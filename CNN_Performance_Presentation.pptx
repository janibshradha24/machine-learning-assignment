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9" r:id="rId1"/>
  </p:sldMasterIdLst>
  <p:notesMasterIdLst>
    <p:notesMasterId r:id="rId16"/>
  </p:notesMasterIdLst>
  <p:sldIdLst>
    <p:sldId id="256" r:id="rId2"/>
    <p:sldId id="257" r:id="rId3"/>
    <p:sldId id="258" r:id="rId4"/>
    <p:sldId id="260" r:id="rId5"/>
    <p:sldId id="263" r:id="rId6"/>
    <p:sldId id="264" r:id="rId7"/>
    <p:sldId id="265" r:id="rId8"/>
    <p:sldId id="266" r:id="rId9"/>
    <p:sldId id="267" r:id="rId10"/>
    <p:sldId id="269" r:id="rId11"/>
    <p:sldId id="270" r:id="rId12"/>
    <p:sldId id="271" r:id="rId13"/>
    <p:sldId id="272"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5796E9-7C97-4D19-ADDF-8451ADA9165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135D2FB-4150-491E-81F1-C270FA1AD258}">
      <dgm:prSet custT="1"/>
      <dgm:spPr/>
      <dgm:t>
        <a:bodyPr/>
        <a:lstStyle/>
        <a:p>
          <a:pPr>
            <a:lnSpc>
              <a:spcPct val="100000"/>
            </a:lnSpc>
          </a:pPr>
          <a:r>
            <a:rPr lang="en-GB" sz="1800" dirty="0">
              <a:latin typeface="Abadi" panose="020B0604020104020204" pitchFamily="34" charset="0"/>
            </a:rPr>
            <a:t>Data preprocessing and normalization </a:t>
          </a:r>
          <a:endParaRPr lang="en-US" sz="1800" dirty="0">
            <a:latin typeface="Abadi" panose="020B0604020104020204" pitchFamily="34" charset="0"/>
          </a:endParaRPr>
        </a:p>
      </dgm:t>
    </dgm:pt>
    <dgm:pt modelId="{7A72BDE8-0D6F-49BA-ADFE-2CCFB8BD0AC8}" type="parTrans" cxnId="{9ED6C991-7BD0-429F-90FF-6F76C287F21A}">
      <dgm:prSet/>
      <dgm:spPr/>
      <dgm:t>
        <a:bodyPr/>
        <a:lstStyle/>
        <a:p>
          <a:endParaRPr lang="en-US"/>
        </a:p>
      </dgm:t>
    </dgm:pt>
    <dgm:pt modelId="{3A1510D5-563D-48F0-A8D6-23A5C9618151}" type="sibTrans" cxnId="{9ED6C991-7BD0-429F-90FF-6F76C287F21A}">
      <dgm:prSet phldrT="2"/>
      <dgm:spPr/>
      <dgm:t>
        <a:bodyPr/>
        <a:lstStyle/>
        <a:p>
          <a:endParaRPr lang="en-US"/>
        </a:p>
      </dgm:t>
    </dgm:pt>
    <dgm:pt modelId="{C9637D32-2BA0-4F1D-BB7E-B309339C09AC}">
      <dgm:prSet custT="1"/>
      <dgm:spPr/>
      <dgm:t>
        <a:bodyPr/>
        <a:lstStyle/>
        <a:p>
          <a:pPr>
            <a:lnSpc>
              <a:spcPct val="100000"/>
            </a:lnSpc>
          </a:pPr>
          <a:r>
            <a:rPr lang="en-GB" sz="1800">
              <a:latin typeface="Abadi" panose="020B0604020104020204" pitchFamily="34" charset="0"/>
            </a:rPr>
            <a:t>Dataset loading using Data Loader </a:t>
          </a:r>
          <a:endParaRPr lang="en-US" sz="1800">
            <a:latin typeface="Abadi" panose="020B0604020104020204" pitchFamily="34" charset="0"/>
          </a:endParaRPr>
        </a:p>
      </dgm:t>
    </dgm:pt>
    <dgm:pt modelId="{C4E17060-43BE-4813-A65D-896937D82C80}" type="parTrans" cxnId="{C681426E-15F0-429F-8B5A-A3B425955E19}">
      <dgm:prSet/>
      <dgm:spPr/>
      <dgm:t>
        <a:bodyPr/>
        <a:lstStyle/>
        <a:p>
          <a:endParaRPr lang="en-US"/>
        </a:p>
      </dgm:t>
    </dgm:pt>
    <dgm:pt modelId="{8A631B8C-BABB-42A1-A309-42329ACB9272}" type="sibTrans" cxnId="{C681426E-15F0-429F-8B5A-A3B425955E19}">
      <dgm:prSet phldrT="3"/>
      <dgm:spPr/>
      <dgm:t>
        <a:bodyPr/>
        <a:lstStyle/>
        <a:p>
          <a:endParaRPr lang="en-US"/>
        </a:p>
      </dgm:t>
    </dgm:pt>
    <dgm:pt modelId="{928D9AFB-0633-46A4-A148-985A866E530E}">
      <dgm:prSet custT="1"/>
      <dgm:spPr/>
      <dgm:t>
        <a:bodyPr/>
        <a:lstStyle/>
        <a:p>
          <a:pPr>
            <a:lnSpc>
              <a:spcPct val="100000"/>
            </a:lnSpc>
          </a:pPr>
          <a:r>
            <a:rPr lang="en-GB" sz="1800">
              <a:latin typeface="Abadi" panose="020B0604020104020204" pitchFamily="34" charset="0"/>
            </a:rPr>
            <a:t>CNN model creation </a:t>
          </a:r>
          <a:endParaRPr lang="en-US" sz="1800">
            <a:latin typeface="Abadi" panose="020B0604020104020204" pitchFamily="34" charset="0"/>
          </a:endParaRPr>
        </a:p>
      </dgm:t>
    </dgm:pt>
    <dgm:pt modelId="{5585AED7-33F2-4295-92F8-B3C1A7E1AEBD}" type="parTrans" cxnId="{CD9ACA87-2260-4051-90F5-4DDAFB24193E}">
      <dgm:prSet/>
      <dgm:spPr/>
      <dgm:t>
        <a:bodyPr/>
        <a:lstStyle/>
        <a:p>
          <a:endParaRPr lang="en-US"/>
        </a:p>
      </dgm:t>
    </dgm:pt>
    <dgm:pt modelId="{EC9FA469-481B-41F9-B29D-B8F5E5A2281F}" type="sibTrans" cxnId="{CD9ACA87-2260-4051-90F5-4DDAFB24193E}">
      <dgm:prSet phldrT="4"/>
      <dgm:spPr/>
      <dgm:t>
        <a:bodyPr/>
        <a:lstStyle/>
        <a:p>
          <a:endParaRPr lang="en-US"/>
        </a:p>
      </dgm:t>
    </dgm:pt>
    <dgm:pt modelId="{A320E8BB-1150-4D6D-9046-01DC1E7739DB}">
      <dgm:prSet custT="1"/>
      <dgm:spPr/>
      <dgm:t>
        <a:bodyPr/>
        <a:lstStyle/>
        <a:p>
          <a:pPr>
            <a:lnSpc>
              <a:spcPct val="100000"/>
            </a:lnSpc>
          </a:pPr>
          <a:r>
            <a:rPr lang="en-GB" sz="1800" dirty="0">
              <a:latin typeface="Abadi" panose="020B0604020104020204" pitchFamily="34" charset="0"/>
            </a:rPr>
            <a:t>Model training </a:t>
          </a:r>
          <a:endParaRPr lang="en-US" sz="1800" dirty="0">
            <a:latin typeface="Abadi" panose="020B0604020104020204" pitchFamily="34" charset="0"/>
          </a:endParaRPr>
        </a:p>
      </dgm:t>
    </dgm:pt>
    <dgm:pt modelId="{CAB8A559-DFE4-494D-A367-D05717574F94}" type="parTrans" cxnId="{7EBC4EC5-C7BB-4252-867F-4E87FE31D921}">
      <dgm:prSet/>
      <dgm:spPr/>
      <dgm:t>
        <a:bodyPr/>
        <a:lstStyle/>
        <a:p>
          <a:endParaRPr lang="en-US"/>
        </a:p>
      </dgm:t>
    </dgm:pt>
    <dgm:pt modelId="{C37A4583-6A3A-4AD3-8AC7-15262638B227}" type="sibTrans" cxnId="{7EBC4EC5-C7BB-4252-867F-4E87FE31D921}">
      <dgm:prSet phldrT="5"/>
      <dgm:spPr/>
      <dgm:t>
        <a:bodyPr/>
        <a:lstStyle/>
        <a:p>
          <a:endParaRPr lang="en-US"/>
        </a:p>
      </dgm:t>
    </dgm:pt>
    <dgm:pt modelId="{93287341-56AB-49FD-BC8B-C070CCF32437}">
      <dgm:prSet custT="1"/>
      <dgm:spPr/>
      <dgm:t>
        <a:bodyPr/>
        <a:lstStyle/>
        <a:p>
          <a:pPr>
            <a:lnSpc>
              <a:spcPct val="100000"/>
            </a:lnSpc>
          </a:pPr>
          <a:r>
            <a:rPr lang="en-GB" sz="1800" dirty="0">
              <a:latin typeface="Abadi" panose="020B0604020104020204" pitchFamily="34" charset="0"/>
            </a:rPr>
            <a:t>Performance evaluation </a:t>
          </a:r>
          <a:endParaRPr lang="en-US" sz="1800" dirty="0">
            <a:latin typeface="Abadi" panose="020B0604020104020204" pitchFamily="34" charset="0"/>
          </a:endParaRPr>
        </a:p>
      </dgm:t>
    </dgm:pt>
    <dgm:pt modelId="{E0B869EB-FEC2-486B-B8E5-7C91C03F44A9}" type="parTrans" cxnId="{4EC4FC35-29E6-43CA-933B-4A429609CD19}">
      <dgm:prSet/>
      <dgm:spPr/>
      <dgm:t>
        <a:bodyPr/>
        <a:lstStyle/>
        <a:p>
          <a:endParaRPr lang="en-US"/>
        </a:p>
      </dgm:t>
    </dgm:pt>
    <dgm:pt modelId="{FFF79D82-0B5D-4DF4-B3A0-EA687DFD959B}" type="sibTrans" cxnId="{4EC4FC35-29E6-43CA-933B-4A429609CD19}">
      <dgm:prSet phldrT="6"/>
      <dgm:spPr/>
      <dgm:t>
        <a:bodyPr/>
        <a:lstStyle/>
        <a:p>
          <a:endParaRPr lang="en-US"/>
        </a:p>
      </dgm:t>
    </dgm:pt>
    <dgm:pt modelId="{791BA1FE-2353-4952-8636-674C4B0C0282}">
      <dgm:prSet custT="1"/>
      <dgm:spPr/>
      <dgm:t>
        <a:bodyPr/>
        <a:lstStyle/>
        <a:p>
          <a:pPr>
            <a:lnSpc>
              <a:spcPct val="100000"/>
            </a:lnSpc>
          </a:pPr>
          <a:r>
            <a:rPr lang="en-GB" sz="1800" dirty="0">
              <a:latin typeface="Abadi" panose="020B0604020104020204" pitchFamily="34" charset="0"/>
            </a:rPr>
            <a:t>Confusion matrix analysis </a:t>
          </a:r>
          <a:endParaRPr lang="en-US" sz="1800" dirty="0">
            <a:latin typeface="Abadi" panose="020B0604020104020204" pitchFamily="34" charset="0"/>
          </a:endParaRPr>
        </a:p>
      </dgm:t>
    </dgm:pt>
    <dgm:pt modelId="{29747532-10AF-4CD2-B0FF-13A09E9471A5}" type="parTrans" cxnId="{57EA48BD-6DDB-48B1-B5F0-41DC56411C8B}">
      <dgm:prSet/>
      <dgm:spPr/>
      <dgm:t>
        <a:bodyPr/>
        <a:lstStyle/>
        <a:p>
          <a:endParaRPr lang="en-US"/>
        </a:p>
      </dgm:t>
    </dgm:pt>
    <dgm:pt modelId="{C558CA46-2D37-44A3-8982-AF3D131FECAC}" type="sibTrans" cxnId="{57EA48BD-6DDB-48B1-B5F0-41DC56411C8B}">
      <dgm:prSet phldrT="8"/>
      <dgm:spPr/>
      <dgm:t>
        <a:bodyPr/>
        <a:lstStyle/>
        <a:p>
          <a:endParaRPr lang="en-US"/>
        </a:p>
      </dgm:t>
    </dgm:pt>
    <dgm:pt modelId="{BEADA722-BE80-4CEC-8BB6-DB027DA952F8}" type="pres">
      <dgm:prSet presAssocID="{B35796E9-7C97-4D19-ADDF-8451ADA9165D}" presName="root" presStyleCnt="0">
        <dgm:presLayoutVars>
          <dgm:dir/>
          <dgm:resizeHandles val="exact"/>
        </dgm:presLayoutVars>
      </dgm:prSet>
      <dgm:spPr/>
    </dgm:pt>
    <dgm:pt modelId="{7D3BF82A-BE82-4E39-9F5E-E8032C9526D5}" type="pres">
      <dgm:prSet presAssocID="{9135D2FB-4150-491E-81F1-C270FA1AD258}" presName="compNode" presStyleCnt="0"/>
      <dgm:spPr/>
    </dgm:pt>
    <dgm:pt modelId="{4276DE5E-3102-4E51-B1B4-5C0B91E331C3}" type="pres">
      <dgm:prSet presAssocID="{9135D2FB-4150-491E-81F1-C270FA1AD258}" presName="bgRect" presStyleLbl="bgShp" presStyleIdx="0" presStyleCnt="6"/>
      <dgm:spPr/>
    </dgm:pt>
    <dgm:pt modelId="{0CD3174E-9DFE-41C6-8E3D-C57C736BE6B9}" type="pres">
      <dgm:prSet presAssocID="{9135D2FB-4150-491E-81F1-C270FA1AD258}"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B78A5BCF-4495-495B-8FA3-C7E93F28D929}" type="pres">
      <dgm:prSet presAssocID="{9135D2FB-4150-491E-81F1-C270FA1AD258}" presName="spaceRect" presStyleCnt="0"/>
      <dgm:spPr/>
    </dgm:pt>
    <dgm:pt modelId="{06B55FCC-CE0D-413C-BA54-9411F04AE80E}" type="pres">
      <dgm:prSet presAssocID="{9135D2FB-4150-491E-81F1-C270FA1AD258}" presName="parTx" presStyleLbl="revTx" presStyleIdx="0" presStyleCnt="6">
        <dgm:presLayoutVars>
          <dgm:chMax val="0"/>
          <dgm:chPref val="0"/>
        </dgm:presLayoutVars>
      </dgm:prSet>
      <dgm:spPr/>
    </dgm:pt>
    <dgm:pt modelId="{1D09FF37-1AF1-4CF4-92BB-C0D6CF724B2D}" type="pres">
      <dgm:prSet presAssocID="{3A1510D5-563D-48F0-A8D6-23A5C9618151}" presName="sibTrans" presStyleCnt="0"/>
      <dgm:spPr/>
    </dgm:pt>
    <dgm:pt modelId="{A584272F-0879-4D50-9633-6A8764E07EB6}" type="pres">
      <dgm:prSet presAssocID="{C9637D32-2BA0-4F1D-BB7E-B309339C09AC}" presName="compNode" presStyleCnt="0"/>
      <dgm:spPr/>
    </dgm:pt>
    <dgm:pt modelId="{C5313043-0E7C-4C50-8C94-02B7859AF5BD}" type="pres">
      <dgm:prSet presAssocID="{C9637D32-2BA0-4F1D-BB7E-B309339C09AC}" presName="bgRect" presStyleLbl="bgShp" presStyleIdx="1" presStyleCnt="6"/>
      <dgm:spPr/>
    </dgm:pt>
    <dgm:pt modelId="{AF113DAE-7709-4325-8AA5-E4E77767A070}" type="pres">
      <dgm:prSet presAssocID="{C9637D32-2BA0-4F1D-BB7E-B309339C09A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4220AB8-0A8B-4867-B470-D69A62DB2646}" type="pres">
      <dgm:prSet presAssocID="{C9637D32-2BA0-4F1D-BB7E-B309339C09AC}" presName="spaceRect" presStyleCnt="0"/>
      <dgm:spPr/>
    </dgm:pt>
    <dgm:pt modelId="{62C37B4F-2CA7-47B7-8CC0-657FB8DAFAC7}" type="pres">
      <dgm:prSet presAssocID="{C9637D32-2BA0-4F1D-BB7E-B309339C09AC}" presName="parTx" presStyleLbl="revTx" presStyleIdx="1" presStyleCnt="6">
        <dgm:presLayoutVars>
          <dgm:chMax val="0"/>
          <dgm:chPref val="0"/>
        </dgm:presLayoutVars>
      </dgm:prSet>
      <dgm:spPr/>
    </dgm:pt>
    <dgm:pt modelId="{9E05759F-6608-416C-AACE-FE0102549D6E}" type="pres">
      <dgm:prSet presAssocID="{8A631B8C-BABB-42A1-A309-42329ACB9272}" presName="sibTrans" presStyleCnt="0"/>
      <dgm:spPr/>
    </dgm:pt>
    <dgm:pt modelId="{23D1DE47-921B-465B-9E0B-0FB802C119F0}" type="pres">
      <dgm:prSet presAssocID="{928D9AFB-0633-46A4-A148-985A866E530E}" presName="compNode" presStyleCnt="0"/>
      <dgm:spPr/>
    </dgm:pt>
    <dgm:pt modelId="{2333C37B-CB15-4401-9708-50118277969F}" type="pres">
      <dgm:prSet presAssocID="{928D9AFB-0633-46A4-A148-985A866E530E}" presName="bgRect" presStyleLbl="bgShp" presStyleIdx="2" presStyleCnt="6"/>
      <dgm:spPr/>
    </dgm:pt>
    <dgm:pt modelId="{309E04B5-277F-498D-9FFD-A55AF89D0C02}" type="pres">
      <dgm:prSet presAssocID="{928D9AFB-0633-46A4-A148-985A866E530E}"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
        </a:ext>
      </dgm:extLst>
    </dgm:pt>
    <dgm:pt modelId="{A1059F7D-8E0F-4535-8E3E-806046465C72}" type="pres">
      <dgm:prSet presAssocID="{928D9AFB-0633-46A4-A148-985A866E530E}" presName="spaceRect" presStyleCnt="0"/>
      <dgm:spPr/>
    </dgm:pt>
    <dgm:pt modelId="{519960EA-E587-40CB-8A8D-7238C82F4FB6}" type="pres">
      <dgm:prSet presAssocID="{928D9AFB-0633-46A4-A148-985A866E530E}" presName="parTx" presStyleLbl="revTx" presStyleIdx="2" presStyleCnt="6">
        <dgm:presLayoutVars>
          <dgm:chMax val="0"/>
          <dgm:chPref val="0"/>
        </dgm:presLayoutVars>
      </dgm:prSet>
      <dgm:spPr/>
    </dgm:pt>
    <dgm:pt modelId="{85A9BD0B-F2FF-4A2D-B794-FC61498AAAE4}" type="pres">
      <dgm:prSet presAssocID="{EC9FA469-481B-41F9-B29D-B8F5E5A2281F}" presName="sibTrans" presStyleCnt="0"/>
      <dgm:spPr/>
    </dgm:pt>
    <dgm:pt modelId="{06CE86AA-0C60-42C1-BED4-61D148A4189E}" type="pres">
      <dgm:prSet presAssocID="{A320E8BB-1150-4D6D-9046-01DC1E7739DB}" presName="compNode" presStyleCnt="0"/>
      <dgm:spPr/>
    </dgm:pt>
    <dgm:pt modelId="{9A174FD0-F117-4D16-8DF6-6DB5D1220118}" type="pres">
      <dgm:prSet presAssocID="{A320E8BB-1150-4D6D-9046-01DC1E7739DB}" presName="bgRect" presStyleLbl="bgShp" presStyleIdx="3" presStyleCnt="6"/>
      <dgm:spPr/>
    </dgm:pt>
    <dgm:pt modelId="{10C64254-61A2-42F5-88B0-DC0AE4E4D704}" type="pres">
      <dgm:prSet presAssocID="{A320E8BB-1150-4D6D-9046-01DC1E7739DB}"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acher"/>
        </a:ext>
      </dgm:extLst>
    </dgm:pt>
    <dgm:pt modelId="{18228658-C88A-4559-A918-1C19C39763F8}" type="pres">
      <dgm:prSet presAssocID="{A320E8BB-1150-4D6D-9046-01DC1E7739DB}" presName="spaceRect" presStyleCnt="0"/>
      <dgm:spPr/>
    </dgm:pt>
    <dgm:pt modelId="{7A274CB5-8359-4EFC-8DFE-B4D857814D28}" type="pres">
      <dgm:prSet presAssocID="{A320E8BB-1150-4D6D-9046-01DC1E7739DB}" presName="parTx" presStyleLbl="revTx" presStyleIdx="3" presStyleCnt="6">
        <dgm:presLayoutVars>
          <dgm:chMax val="0"/>
          <dgm:chPref val="0"/>
        </dgm:presLayoutVars>
      </dgm:prSet>
      <dgm:spPr/>
    </dgm:pt>
    <dgm:pt modelId="{09B2C1F9-820A-4D03-AC75-AC7C9A0B7421}" type="pres">
      <dgm:prSet presAssocID="{C37A4583-6A3A-4AD3-8AC7-15262638B227}" presName="sibTrans" presStyleCnt="0"/>
      <dgm:spPr/>
    </dgm:pt>
    <dgm:pt modelId="{429250B2-977E-42E1-95AD-AFF71FB3B774}" type="pres">
      <dgm:prSet presAssocID="{93287341-56AB-49FD-BC8B-C070CCF32437}" presName="compNode" presStyleCnt="0"/>
      <dgm:spPr/>
    </dgm:pt>
    <dgm:pt modelId="{FB1CF03C-57FD-4B10-B5D5-0A49DD27D716}" type="pres">
      <dgm:prSet presAssocID="{93287341-56AB-49FD-BC8B-C070CCF32437}" presName="bgRect" presStyleLbl="bgShp" presStyleIdx="4" presStyleCnt="6"/>
      <dgm:spPr/>
    </dgm:pt>
    <dgm:pt modelId="{2BDCB390-A66A-46EA-AF1D-21443E037548}" type="pres">
      <dgm:prSet presAssocID="{93287341-56AB-49FD-BC8B-C070CCF32437}"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heckmark"/>
        </a:ext>
      </dgm:extLst>
    </dgm:pt>
    <dgm:pt modelId="{C1C8BB87-C7A9-4F90-A78E-6D0B1D6CEFC2}" type="pres">
      <dgm:prSet presAssocID="{93287341-56AB-49FD-BC8B-C070CCF32437}" presName="spaceRect" presStyleCnt="0"/>
      <dgm:spPr/>
    </dgm:pt>
    <dgm:pt modelId="{221376B8-8C6B-4AF3-92AF-F5318630B8FC}" type="pres">
      <dgm:prSet presAssocID="{93287341-56AB-49FD-BC8B-C070CCF32437}" presName="parTx" presStyleLbl="revTx" presStyleIdx="4" presStyleCnt="6">
        <dgm:presLayoutVars>
          <dgm:chMax val="0"/>
          <dgm:chPref val="0"/>
        </dgm:presLayoutVars>
      </dgm:prSet>
      <dgm:spPr/>
    </dgm:pt>
    <dgm:pt modelId="{EDDD3646-207D-435D-92AC-1A6DE4C7CA8A}" type="pres">
      <dgm:prSet presAssocID="{FFF79D82-0B5D-4DF4-B3A0-EA687DFD959B}" presName="sibTrans" presStyleCnt="0"/>
      <dgm:spPr/>
    </dgm:pt>
    <dgm:pt modelId="{0FD5A0D1-48DB-4264-B5D2-01BBA1B9C871}" type="pres">
      <dgm:prSet presAssocID="{791BA1FE-2353-4952-8636-674C4B0C0282}" presName="compNode" presStyleCnt="0"/>
      <dgm:spPr/>
    </dgm:pt>
    <dgm:pt modelId="{D4E0D63F-FFF4-4BA0-86FF-92916EE991A4}" type="pres">
      <dgm:prSet presAssocID="{791BA1FE-2353-4952-8636-674C4B0C0282}" presName="bgRect" presStyleLbl="bgShp" presStyleIdx="5" presStyleCnt="6" custLinFactNeighborX="-1017" custLinFactNeighborY="-998"/>
      <dgm:spPr/>
    </dgm:pt>
    <dgm:pt modelId="{4D1830A6-71C5-4261-8FA7-8618F888A88F}" type="pres">
      <dgm:prSet presAssocID="{791BA1FE-2353-4952-8636-674C4B0C0282}"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lp"/>
        </a:ext>
      </dgm:extLst>
    </dgm:pt>
    <dgm:pt modelId="{0807D9A8-2776-453A-AB97-BBD8B52F0A3B}" type="pres">
      <dgm:prSet presAssocID="{791BA1FE-2353-4952-8636-674C4B0C0282}" presName="spaceRect" presStyleCnt="0"/>
      <dgm:spPr/>
    </dgm:pt>
    <dgm:pt modelId="{DA918422-BE6B-4E64-883E-4B526B5D78E1}" type="pres">
      <dgm:prSet presAssocID="{791BA1FE-2353-4952-8636-674C4B0C0282}" presName="parTx" presStyleLbl="revTx" presStyleIdx="5" presStyleCnt="6">
        <dgm:presLayoutVars>
          <dgm:chMax val="0"/>
          <dgm:chPref val="0"/>
        </dgm:presLayoutVars>
      </dgm:prSet>
      <dgm:spPr/>
    </dgm:pt>
  </dgm:ptLst>
  <dgm:cxnLst>
    <dgm:cxn modelId="{B17C1D13-CDA7-452E-AC42-6749173B971F}" type="presOf" srcId="{791BA1FE-2353-4952-8636-674C4B0C0282}" destId="{DA918422-BE6B-4E64-883E-4B526B5D78E1}" srcOrd="0" destOrd="0" presId="urn:microsoft.com/office/officeart/2018/2/layout/IconVerticalSolidList"/>
    <dgm:cxn modelId="{3867911D-BE94-410F-82A6-CDCE9A14C555}" type="presOf" srcId="{93287341-56AB-49FD-BC8B-C070CCF32437}" destId="{221376B8-8C6B-4AF3-92AF-F5318630B8FC}" srcOrd="0" destOrd="0" presId="urn:microsoft.com/office/officeart/2018/2/layout/IconVerticalSolidList"/>
    <dgm:cxn modelId="{8D003126-87E3-4DF0-BBFD-693D29FE558F}" type="presOf" srcId="{C9637D32-2BA0-4F1D-BB7E-B309339C09AC}" destId="{62C37B4F-2CA7-47B7-8CC0-657FB8DAFAC7}" srcOrd="0" destOrd="0" presId="urn:microsoft.com/office/officeart/2018/2/layout/IconVerticalSolidList"/>
    <dgm:cxn modelId="{4EC4FC35-29E6-43CA-933B-4A429609CD19}" srcId="{B35796E9-7C97-4D19-ADDF-8451ADA9165D}" destId="{93287341-56AB-49FD-BC8B-C070CCF32437}" srcOrd="4" destOrd="0" parTransId="{E0B869EB-FEC2-486B-B8E5-7C91C03F44A9}" sibTransId="{FFF79D82-0B5D-4DF4-B3A0-EA687DFD959B}"/>
    <dgm:cxn modelId="{7ED1865B-29C2-48C0-997F-89FC8BFCAF85}" type="presOf" srcId="{928D9AFB-0633-46A4-A148-985A866E530E}" destId="{519960EA-E587-40CB-8A8D-7238C82F4FB6}" srcOrd="0" destOrd="0" presId="urn:microsoft.com/office/officeart/2018/2/layout/IconVerticalSolidList"/>
    <dgm:cxn modelId="{C681426E-15F0-429F-8B5A-A3B425955E19}" srcId="{B35796E9-7C97-4D19-ADDF-8451ADA9165D}" destId="{C9637D32-2BA0-4F1D-BB7E-B309339C09AC}" srcOrd="1" destOrd="0" parTransId="{C4E17060-43BE-4813-A65D-896937D82C80}" sibTransId="{8A631B8C-BABB-42A1-A309-42329ACB9272}"/>
    <dgm:cxn modelId="{CD9ACA87-2260-4051-90F5-4DDAFB24193E}" srcId="{B35796E9-7C97-4D19-ADDF-8451ADA9165D}" destId="{928D9AFB-0633-46A4-A148-985A866E530E}" srcOrd="2" destOrd="0" parTransId="{5585AED7-33F2-4295-92F8-B3C1A7E1AEBD}" sibTransId="{EC9FA469-481B-41F9-B29D-B8F5E5A2281F}"/>
    <dgm:cxn modelId="{9ED6C991-7BD0-429F-90FF-6F76C287F21A}" srcId="{B35796E9-7C97-4D19-ADDF-8451ADA9165D}" destId="{9135D2FB-4150-491E-81F1-C270FA1AD258}" srcOrd="0" destOrd="0" parTransId="{7A72BDE8-0D6F-49BA-ADFE-2CCFB8BD0AC8}" sibTransId="{3A1510D5-563D-48F0-A8D6-23A5C9618151}"/>
    <dgm:cxn modelId="{9265E3A4-7928-4D23-AB77-57AFE3CA9D46}" type="presOf" srcId="{B35796E9-7C97-4D19-ADDF-8451ADA9165D}" destId="{BEADA722-BE80-4CEC-8BB6-DB027DA952F8}" srcOrd="0" destOrd="0" presId="urn:microsoft.com/office/officeart/2018/2/layout/IconVerticalSolidList"/>
    <dgm:cxn modelId="{AB904BB0-D7DF-4F3D-A9A4-0D303A4E89B8}" type="presOf" srcId="{A320E8BB-1150-4D6D-9046-01DC1E7739DB}" destId="{7A274CB5-8359-4EFC-8DFE-B4D857814D28}" srcOrd="0" destOrd="0" presId="urn:microsoft.com/office/officeart/2018/2/layout/IconVerticalSolidList"/>
    <dgm:cxn modelId="{57EA48BD-6DDB-48B1-B5F0-41DC56411C8B}" srcId="{B35796E9-7C97-4D19-ADDF-8451ADA9165D}" destId="{791BA1FE-2353-4952-8636-674C4B0C0282}" srcOrd="5" destOrd="0" parTransId="{29747532-10AF-4CD2-B0FF-13A09E9471A5}" sibTransId="{C558CA46-2D37-44A3-8982-AF3D131FECAC}"/>
    <dgm:cxn modelId="{7EBC4EC5-C7BB-4252-867F-4E87FE31D921}" srcId="{B35796E9-7C97-4D19-ADDF-8451ADA9165D}" destId="{A320E8BB-1150-4D6D-9046-01DC1E7739DB}" srcOrd="3" destOrd="0" parTransId="{CAB8A559-DFE4-494D-A367-D05717574F94}" sibTransId="{C37A4583-6A3A-4AD3-8AC7-15262638B227}"/>
    <dgm:cxn modelId="{70C0E9D2-024D-47E2-B78E-EE83A6402C99}" type="presOf" srcId="{9135D2FB-4150-491E-81F1-C270FA1AD258}" destId="{06B55FCC-CE0D-413C-BA54-9411F04AE80E}" srcOrd="0" destOrd="0" presId="urn:microsoft.com/office/officeart/2018/2/layout/IconVerticalSolidList"/>
    <dgm:cxn modelId="{BDC882A7-842F-43CC-9E6F-40A973C9D388}" type="presParOf" srcId="{BEADA722-BE80-4CEC-8BB6-DB027DA952F8}" destId="{7D3BF82A-BE82-4E39-9F5E-E8032C9526D5}" srcOrd="0" destOrd="0" presId="urn:microsoft.com/office/officeart/2018/2/layout/IconVerticalSolidList"/>
    <dgm:cxn modelId="{1843BA3C-3BF7-4856-899A-29543A8B779B}" type="presParOf" srcId="{7D3BF82A-BE82-4E39-9F5E-E8032C9526D5}" destId="{4276DE5E-3102-4E51-B1B4-5C0B91E331C3}" srcOrd="0" destOrd="0" presId="urn:microsoft.com/office/officeart/2018/2/layout/IconVerticalSolidList"/>
    <dgm:cxn modelId="{9B7EDA52-DD84-4DC1-AC81-EAA7198CDA26}" type="presParOf" srcId="{7D3BF82A-BE82-4E39-9F5E-E8032C9526D5}" destId="{0CD3174E-9DFE-41C6-8E3D-C57C736BE6B9}" srcOrd="1" destOrd="0" presId="urn:microsoft.com/office/officeart/2018/2/layout/IconVerticalSolidList"/>
    <dgm:cxn modelId="{ABBD0771-0A0C-4599-B0B8-471CF00E40D3}" type="presParOf" srcId="{7D3BF82A-BE82-4E39-9F5E-E8032C9526D5}" destId="{B78A5BCF-4495-495B-8FA3-C7E93F28D929}" srcOrd="2" destOrd="0" presId="urn:microsoft.com/office/officeart/2018/2/layout/IconVerticalSolidList"/>
    <dgm:cxn modelId="{1EB1B16F-9726-45E6-A0B1-BD89FA9B23EA}" type="presParOf" srcId="{7D3BF82A-BE82-4E39-9F5E-E8032C9526D5}" destId="{06B55FCC-CE0D-413C-BA54-9411F04AE80E}" srcOrd="3" destOrd="0" presId="urn:microsoft.com/office/officeart/2018/2/layout/IconVerticalSolidList"/>
    <dgm:cxn modelId="{9685CC80-189F-4BA6-906F-4E562EE031E2}" type="presParOf" srcId="{BEADA722-BE80-4CEC-8BB6-DB027DA952F8}" destId="{1D09FF37-1AF1-4CF4-92BB-C0D6CF724B2D}" srcOrd="1" destOrd="0" presId="urn:microsoft.com/office/officeart/2018/2/layout/IconVerticalSolidList"/>
    <dgm:cxn modelId="{96BFEB69-6211-4932-8253-B27A78B82A23}" type="presParOf" srcId="{BEADA722-BE80-4CEC-8BB6-DB027DA952F8}" destId="{A584272F-0879-4D50-9633-6A8764E07EB6}" srcOrd="2" destOrd="0" presId="urn:microsoft.com/office/officeart/2018/2/layout/IconVerticalSolidList"/>
    <dgm:cxn modelId="{120A7DFB-7ABD-4994-ACCB-7BB33A6D0B8B}" type="presParOf" srcId="{A584272F-0879-4D50-9633-6A8764E07EB6}" destId="{C5313043-0E7C-4C50-8C94-02B7859AF5BD}" srcOrd="0" destOrd="0" presId="urn:microsoft.com/office/officeart/2018/2/layout/IconVerticalSolidList"/>
    <dgm:cxn modelId="{5B1C66B2-5F47-4D0B-B613-AEB7E186DF82}" type="presParOf" srcId="{A584272F-0879-4D50-9633-6A8764E07EB6}" destId="{AF113DAE-7709-4325-8AA5-E4E77767A070}" srcOrd="1" destOrd="0" presId="urn:microsoft.com/office/officeart/2018/2/layout/IconVerticalSolidList"/>
    <dgm:cxn modelId="{24DFDA6E-B322-4BEB-A97F-104610B235E8}" type="presParOf" srcId="{A584272F-0879-4D50-9633-6A8764E07EB6}" destId="{F4220AB8-0A8B-4867-B470-D69A62DB2646}" srcOrd="2" destOrd="0" presId="urn:microsoft.com/office/officeart/2018/2/layout/IconVerticalSolidList"/>
    <dgm:cxn modelId="{6DC17837-4236-4437-857C-AAF9925DD6C0}" type="presParOf" srcId="{A584272F-0879-4D50-9633-6A8764E07EB6}" destId="{62C37B4F-2CA7-47B7-8CC0-657FB8DAFAC7}" srcOrd="3" destOrd="0" presId="urn:microsoft.com/office/officeart/2018/2/layout/IconVerticalSolidList"/>
    <dgm:cxn modelId="{4D501754-BA74-4284-ABF4-029407E6B6C0}" type="presParOf" srcId="{BEADA722-BE80-4CEC-8BB6-DB027DA952F8}" destId="{9E05759F-6608-416C-AACE-FE0102549D6E}" srcOrd="3" destOrd="0" presId="urn:microsoft.com/office/officeart/2018/2/layout/IconVerticalSolidList"/>
    <dgm:cxn modelId="{A5B58115-E5AD-4FB8-A2E2-8AA0006FAC8A}" type="presParOf" srcId="{BEADA722-BE80-4CEC-8BB6-DB027DA952F8}" destId="{23D1DE47-921B-465B-9E0B-0FB802C119F0}" srcOrd="4" destOrd="0" presId="urn:microsoft.com/office/officeart/2018/2/layout/IconVerticalSolidList"/>
    <dgm:cxn modelId="{B86E3156-6D8E-4FD7-A0FE-EE0B69774DBE}" type="presParOf" srcId="{23D1DE47-921B-465B-9E0B-0FB802C119F0}" destId="{2333C37B-CB15-4401-9708-50118277969F}" srcOrd="0" destOrd="0" presId="urn:microsoft.com/office/officeart/2018/2/layout/IconVerticalSolidList"/>
    <dgm:cxn modelId="{BFB725F1-1551-4F09-AFAC-7ABF41F50BB5}" type="presParOf" srcId="{23D1DE47-921B-465B-9E0B-0FB802C119F0}" destId="{309E04B5-277F-498D-9FFD-A55AF89D0C02}" srcOrd="1" destOrd="0" presId="urn:microsoft.com/office/officeart/2018/2/layout/IconVerticalSolidList"/>
    <dgm:cxn modelId="{36E01ADC-E287-41BE-9BF2-78E620297023}" type="presParOf" srcId="{23D1DE47-921B-465B-9E0B-0FB802C119F0}" destId="{A1059F7D-8E0F-4535-8E3E-806046465C72}" srcOrd="2" destOrd="0" presId="urn:microsoft.com/office/officeart/2018/2/layout/IconVerticalSolidList"/>
    <dgm:cxn modelId="{BF6B0779-5B88-4E22-8B3B-3491854A0942}" type="presParOf" srcId="{23D1DE47-921B-465B-9E0B-0FB802C119F0}" destId="{519960EA-E587-40CB-8A8D-7238C82F4FB6}" srcOrd="3" destOrd="0" presId="urn:microsoft.com/office/officeart/2018/2/layout/IconVerticalSolidList"/>
    <dgm:cxn modelId="{206E4BA9-FA83-43A3-A628-4E22A9E0591C}" type="presParOf" srcId="{BEADA722-BE80-4CEC-8BB6-DB027DA952F8}" destId="{85A9BD0B-F2FF-4A2D-B794-FC61498AAAE4}" srcOrd="5" destOrd="0" presId="urn:microsoft.com/office/officeart/2018/2/layout/IconVerticalSolidList"/>
    <dgm:cxn modelId="{14F3B41C-3CAC-4B9C-B745-00212DBD8360}" type="presParOf" srcId="{BEADA722-BE80-4CEC-8BB6-DB027DA952F8}" destId="{06CE86AA-0C60-42C1-BED4-61D148A4189E}" srcOrd="6" destOrd="0" presId="urn:microsoft.com/office/officeart/2018/2/layout/IconVerticalSolidList"/>
    <dgm:cxn modelId="{658A95E0-79AA-45DA-B66D-D88959B51181}" type="presParOf" srcId="{06CE86AA-0C60-42C1-BED4-61D148A4189E}" destId="{9A174FD0-F117-4D16-8DF6-6DB5D1220118}" srcOrd="0" destOrd="0" presId="urn:microsoft.com/office/officeart/2018/2/layout/IconVerticalSolidList"/>
    <dgm:cxn modelId="{BCB2B827-8F52-4545-86DB-04D575C0E97C}" type="presParOf" srcId="{06CE86AA-0C60-42C1-BED4-61D148A4189E}" destId="{10C64254-61A2-42F5-88B0-DC0AE4E4D704}" srcOrd="1" destOrd="0" presId="urn:microsoft.com/office/officeart/2018/2/layout/IconVerticalSolidList"/>
    <dgm:cxn modelId="{2D528D68-FD2B-4823-AFD2-7917D183724E}" type="presParOf" srcId="{06CE86AA-0C60-42C1-BED4-61D148A4189E}" destId="{18228658-C88A-4559-A918-1C19C39763F8}" srcOrd="2" destOrd="0" presId="urn:microsoft.com/office/officeart/2018/2/layout/IconVerticalSolidList"/>
    <dgm:cxn modelId="{A6482FC1-6C56-4D2C-B740-EEB33A1B9A59}" type="presParOf" srcId="{06CE86AA-0C60-42C1-BED4-61D148A4189E}" destId="{7A274CB5-8359-4EFC-8DFE-B4D857814D28}" srcOrd="3" destOrd="0" presId="urn:microsoft.com/office/officeart/2018/2/layout/IconVerticalSolidList"/>
    <dgm:cxn modelId="{326B502D-1928-4A30-B1E4-7E5485ABEAD4}" type="presParOf" srcId="{BEADA722-BE80-4CEC-8BB6-DB027DA952F8}" destId="{09B2C1F9-820A-4D03-AC75-AC7C9A0B7421}" srcOrd="7" destOrd="0" presId="urn:microsoft.com/office/officeart/2018/2/layout/IconVerticalSolidList"/>
    <dgm:cxn modelId="{38F22479-33DD-4E76-94E2-473F66D16341}" type="presParOf" srcId="{BEADA722-BE80-4CEC-8BB6-DB027DA952F8}" destId="{429250B2-977E-42E1-95AD-AFF71FB3B774}" srcOrd="8" destOrd="0" presId="urn:microsoft.com/office/officeart/2018/2/layout/IconVerticalSolidList"/>
    <dgm:cxn modelId="{15B81531-F07F-4048-A94E-2A02A86D0FF6}" type="presParOf" srcId="{429250B2-977E-42E1-95AD-AFF71FB3B774}" destId="{FB1CF03C-57FD-4B10-B5D5-0A49DD27D716}" srcOrd="0" destOrd="0" presId="urn:microsoft.com/office/officeart/2018/2/layout/IconVerticalSolidList"/>
    <dgm:cxn modelId="{29A9B0B4-A7CA-45BD-ABB7-A761B5C24ABC}" type="presParOf" srcId="{429250B2-977E-42E1-95AD-AFF71FB3B774}" destId="{2BDCB390-A66A-46EA-AF1D-21443E037548}" srcOrd="1" destOrd="0" presId="urn:microsoft.com/office/officeart/2018/2/layout/IconVerticalSolidList"/>
    <dgm:cxn modelId="{19116BB1-4825-4481-939C-7BD7CC6620FE}" type="presParOf" srcId="{429250B2-977E-42E1-95AD-AFF71FB3B774}" destId="{C1C8BB87-C7A9-4F90-A78E-6D0B1D6CEFC2}" srcOrd="2" destOrd="0" presId="urn:microsoft.com/office/officeart/2018/2/layout/IconVerticalSolidList"/>
    <dgm:cxn modelId="{C1A20039-4379-4B4A-B5C6-EA2926E1B322}" type="presParOf" srcId="{429250B2-977E-42E1-95AD-AFF71FB3B774}" destId="{221376B8-8C6B-4AF3-92AF-F5318630B8FC}" srcOrd="3" destOrd="0" presId="urn:microsoft.com/office/officeart/2018/2/layout/IconVerticalSolidList"/>
    <dgm:cxn modelId="{0E124CF1-2070-44E3-A889-30892A5599ED}" type="presParOf" srcId="{BEADA722-BE80-4CEC-8BB6-DB027DA952F8}" destId="{EDDD3646-207D-435D-92AC-1A6DE4C7CA8A}" srcOrd="9" destOrd="0" presId="urn:microsoft.com/office/officeart/2018/2/layout/IconVerticalSolidList"/>
    <dgm:cxn modelId="{36DD160E-4790-45E4-983B-D5D8DB22C704}" type="presParOf" srcId="{BEADA722-BE80-4CEC-8BB6-DB027DA952F8}" destId="{0FD5A0D1-48DB-4264-B5D2-01BBA1B9C871}" srcOrd="10" destOrd="0" presId="urn:microsoft.com/office/officeart/2018/2/layout/IconVerticalSolidList"/>
    <dgm:cxn modelId="{E4E85587-89CF-4A19-BB8A-6E394BEF9395}" type="presParOf" srcId="{0FD5A0D1-48DB-4264-B5D2-01BBA1B9C871}" destId="{D4E0D63F-FFF4-4BA0-86FF-92916EE991A4}" srcOrd="0" destOrd="0" presId="urn:microsoft.com/office/officeart/2018/2/layout/IconVerticalSolidList"/>
    <dgm:cxn modelId="{945AC648-5EFA-4BF8-BD9C-A8C2AB1140B8}" type="presParOf" srcId="{0FD5A0D1-48DB-4264-B5D2-01BBA1B9C871}" destId="{4D1830A6-71C5-4261-8FA7-8618F888A88F}" srcOrd="1" destOrd="0" presId="urn:microsoft.com/office/officeart/2018/2/layout/IconVerticalSolidList"/>
    <dgm:cxn modelId="{354B4655-4E88-4D45-83B8-B4B0C9F7B903}" type="presParOf" srcId="{0FD5A0D1-48DB-4264-B5D2-01BBA1B9C871}" destId="{0807D9A8-2776-453A-AB97-BBD8B52F0A3B}" srcOrd="2" destOrd="0" presId="urn:microsoft.com/office/officeart/2018/2/layout/IconVerticalSolidList"/>
    <dgm:cxn modelId="{13B34004-17D0-4BA9-8DEF-C74CBCC9D255}" type="presParOf" srcId="{0FD5A0D1-48DB-4264-B5D2-01BBA1B9C871}" destId="{DA918422-BE6B-4E64-883E-4B526B5D78E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6DE5E-3102-4E51-B1B4-5C0B91E331C3}">
      <dsp:nvSpPr>
        <dsp:cNvPr id="0" name=""/>
        <dsp:cNvSpPr/>
      </dsp:nvSpPr>
      <dsp:spPr>
        <a:xfrm>
          <a:off x="0" y="1759"/>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D3174E-9DFE-41C6-8E3D-C57C736BE6B9}">
      <dsp:nvSpPr>
        <dsp:cNvPr id="0" name=""/>
        <dsp:cNvSpPr/>
      </dsp:nvSpPr>
      <dsp:spPr>
        <a:xfrm>
          <a:off x="226860" y="170499"/>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B55FCC-CE0D-413C-BA54-9411F04AE80E}">
      <dsp:nvSpPr>
        <dsp:cNvPr id="0" name=""/>
        <dsp:cNvSpPr/>
      </dsp:nvSpPr>
      <dsp:spPr>
        <a:xfrm>
          <a:off x="866195" y="1759"/>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dirty="0">
              <a:latin typeface="Abadi" panose="020B0604020104020204" pitchFamily="34" charset="0"/>
            </a:rPr>
            <a:t>Data preprocessing and normalization </a:t>
          </a:r>
          <a:endParaRPr lang="en-US" sz="1800" kern="1200" dirty="0">
            <a:latin typeface="Abadi" panose="020B0604020104020204" pitchFamily="34" charset="0"/>
          </a:endParaRPr>
        </a:p>
      </dsp:txBody>
      <dsp:txXfrm>
        <a:off x="866195" y="1759"/>
        <a:ext cx="5964372" cy="749953"/>
      </dsp:txXfrm>
    </dsp:sp>
    <dsp:sp modelId="{C5313043-0E7C-4C50-8C94-02B7859AF5BD}">
      <dsp:nvSpPr>
        <dsp:cNvPr id="0" name=""/>
        <dsp:cNvSpPr/>
      </dsp:nvSpPr>
      <dsp:spPr>
        <a:xfrm>
          <a:off x="0" y="939201"/>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113DAE-7709-4325-8AA5-E4E77767A070}">
      <dsp:nvSpPr>
        <dsp:cNvPr id="0" name=""/>
        <dsp:cNvSpPr/>
      </dsp:nvSpPr>
      <dsp:spPr>
        <a:xfrm>
          <a:off x="226860" y="1107940"/>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C37B4F-2CA7-47B7-8CC0-657FB8DAFAC7}">
      <dsp:nvSpPr>
        <dsp:cNvPr id="0" name=""/>
        <dsp:cNvSpPr/>
      </dsp:nvSpPr>
      <dsp:spPr>
        <a:xfrm>
          <a:off x="866195" y="939201"/>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a:latin typeface="Abadi" panose="020B0604020104020204" pitchFamily="34" charset="0"/>
            </a:rPr>
            <a:t>Dataset loading using Data Loader </a:t>
          </a:r>
          <a:endParaRPr lang="en-US" sz="1800" kern="1200">
            <a:latin typeface="Abadi" panose="020B0604020104020204" pitchFamily="34" charset="0"/>
          </a:endParaRPr>
        </a:p>
      </dsp:txBody>
      <dsp:txXfrm>
        <a:off x="866195" y="939201"/>
        <a:ext cx="5964372" cy="749953"/>
      </dsp:txXfrm>
    </dsp:sp>
    <dsp:sp modelId="{2333C37B-CB15-4401-9708-50118277969F}">
      <dsp:nvSpPr>
        <dsp:cNvPr id="0" name=""/>
        <dsp:cNvSpPr/>
      </dsp:nvSpPr>
      <dsp:spPr>
        <a:xfrm>
          <a:off x="0" y="1876642"/>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9E04B5-277F-498D-9FFD-A55AF89D0C02}">
      <dsp:nvSpPr>
        <dsp:cNvPr id="0" name=""/>
        <dsp:cNvSpPr/>
      </dsp:nvSpPr>
      <dsp:spPr>
        <a:xfrm>
          <a:off x="226860" y="2045382"/>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9960EA-E587-40CB-8A8D-7238C82F4FB6}">
      <dsp:nvSpPr>
        <dsp:cNvPr id="0" name=""/>
        <dsp:cNvSpPr/>
      </dsp:nvSpPr>
      <dsp:spPr>
        <a:xfrm>
          <a:off x="866195" y="1876642"/>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a:latin typeface="Abadi" panose="020B0604020104020204" pitchFamily="34" charset="0"/>
            </a:rPr>
            <a:t>CNN model creation </a:t>
          </a:r>
          <a:endParaRPr lang="en-US" sz="1800" kern="1200">
            <a:latin typeface="Abadi" panose="020B0604020104020204" pitchFamily="34" charset="0"/>
          </a:endParaRPr>
        </a:p>
      </dsp:txBody>
      <dsp:txXfrm>
        <a:off x="866195" y="1876642"/>
        <a:ext cx="5964372" cy="749953"/>
      </dsp:txXfrm>
    </dsp:sp>
    <dsp:sp modelId="{9A174FD0-F117-4D16-8DF6-6DB5D1220118}">
      <dsp:nvSpPr>
        <dsp:cNvPr id="0" name=""/>
        <dsp:cNvSpPr/>
      </dsp:nvSpPr>
      <dsp:spPr>
        <a:xfrm>
          <a:off x="0" y="2814084"/>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C64254-61A2-42F5-88B0-DC0AE4E4D704}">
      <dsp:nvSpPr>
        <dsp:cNvPr id="0" name=""/>
        <dsp:cNvSpPr/>
      </dsp:nvSpPr>
      <dsp:spPr>
        <a:xfrm>
          <a:off x="226860" y="2982823"/>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274CB5-8359-4EFC-8DFE-B4D857814D28}">
      <dsp:nvSpPr>
        <dsp:cNvPr id="0" name=""/>
        <dsp:cNvSpPr/>
      </dsp:nvSpPr>
      <dsp:spPr>
        <a:xfrm>
          <a:off x="866195" y="2814084"/>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dirty="0">
              <a:latin typeface="Abadi" panose="020B0604020104020204" pitchFamily="34" charset="0"/>
            </a:rPr>
            <a:t>Model training </a:t>
          </a:r>
          <a:endParaRPr lang="en-US" sz="1800" kern="1200" dirty="0">
            <a:latin typeface="Abadi" panose="020B0604020104020204" pitchFamily="34" charset="0"/>
          </a:endParaRPr>
        </a:p>
      </dsp:txBody>
      <dsp:txXfrm>
        <a:off x="866195" y="2814084"/>
        <a:ext cx="5964372" cy="749953"/>
      </dsp:txXfrm>
    </dsp:sp>
    <dsp:sp modelId="{FB1CF03C-57FD-4B10-B5D5-0A49DD27D716}">
      <dsp:nvSpPr>
        <dsp:cNvPr id="0" name=""/>
        <dsp:cNvSpPr/>
      </dsp:nvSpPr>
      <dsp:spPr>
        <a:xfrm>
          <a:off x="0" y="3751525"/>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DCB390-A66A-46EA-AF1D-21443E037548}">
      <dsp:nvSpPr>
        <dsp:cNvPr id="0" name=""/>
        <dsp:cNvSpPr/>
      </dsp:nvSpPr>
      <dsp:spPr>
        <a:xfrm>
          <a:off x="226860" y="3920264"/>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1376B8-8C6B-4AF3-92AF-F5318630B8FC}">
      <dsp:nvSpPr>
        <dsp:cNvPr id="0" name=""/>
        <dsp:cNvSpPr/>
      </dsp:nvSpPr>
      <dsp:spPr>
        <a:xfrm>
          <a:off x="866195" y="3751525"/>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dirty="0">
              <a:latin typeface="Abadi" panose="020B0604020104020204" pitchFamily="34" charset="0"/>
            </a:rPr>
            <a:t>Performance evaluation </a:t>
          </a:r>
          <a:endParaRPr lang="en-US" sz="1800" kern="1200" dirty="0">
            <a:latin typeface="Abadi" panose="020B0604020104020204" pitchFamily="34" charset="0"/>
          </a:endParaRPr>
        </a:p>
      </dsp:txBody>
      <dsp:txXfrm>
        <a:off x="866195" y="3751525"/>
        <a:ext cx="5964372" cy="749953"/>
      </dsp:txXfrm>
    </dsp:sp>
    <dsp:sp modelId="{D4E0D63F-FFF4-4BA0-86FF-92916EE991A4}">
      <dsp:nvSpPr>
        <dsp:cNvPr id="0" name=""/>
        <dsp:cNvSpPr/>
      </dsp:nvSpPr>
      <dsp:spPr>
        <a:xfrm>
          <a:off x="0" y="4681482"/>
          <a:ext cx="6830568" cy="74995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1830A6-71C5-4261-8FA7-8618F888A88F}">
      <dsp:nvSpPr>
        <dsp:cNvPr id="0" name=""/>
        <dsp:cNvSpPr/>
      </dsp:nvSpPr>
      <dsp:spPr>
        <a:xfrm>
          <a:off x="226860" y="4857706"/>
          <a:ext cx="412474" cy="41247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918422-BE6B-4E64-883E-4B526B5D78E1}">
      <dsp:nvSpPr>
        <dsp:cNvPr id="0" name=""/>
        <dsp:cNvSpPr/>
      </dsp:nvSpPr>
      <dsp:spPr>
        <a:xfrm>
          <a:off x="866195" y="4688966"/>
          <a:ext cx="5964372" cy="7499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370" tIns="79370" rIns="79370" bIns="79370" numCol="1" spcCol="1270" anchor="ctr" anchorCtr="0">
          <a:noAutofit/>
        </a:bodyPr>
        <a:lstStyle/>
        <a:p>
          <a:pPr marL="0" lvl="0" indent="0" algn="l" defTabSz="800100">
            <a:lnSpc>
              <a:spcPct val="100000"/>
            </a:lnSpc>
            <a:spcBef>
              <a:spcPct val="0"/>
            </a:spcBef>
            <a:spcAft>
              <a:spcPct val="35000"/>
            </a:spcAft>
            <a:buNone/>
          </a:pPr>
          <a:r>
            <a:rPr lang="en-GB" sz="1800" kern="1200" dirty="0">
              <a:latin typeface="Abadi" panose="020B0604020104020204" pitchFamily="34" charset="0"/>
            </a:rPr>
            <a:t>Confusion matrix analysis </a:t>
          </a:r>
          <a:endParaRPr lang="en-US" sz="1800" kern="1200" dirty="0">
            <a:latin typeface="Abadi" panose="020B0604020104020204" pitchFamily="34" charset="0"/>
          </a:endParaRPr>
        </a:p>
      </dsp:txBody>
      <dsp:txXfrm>
        <a:off x="866195" y="4688966"/>
        <a:ext cx="5964372" cy="74995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ED8A4-0CCA-42EB-95A5-DFCA4C5B2E90}" type="datetimeFigureOut">
              <a:rPr lang="en-GB" smtClean="0"/>
              <a:t>26/05/2026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95263-173D-4480-91F8-65C17A345CD1}" type="slidenum">
              <a:rPr lang="en-GB" smtClean="0"/>
              <a:t>‹#›</a:t>
            </a:fld>
            <a:endParaRPr lang="en-GB"/>
          </a:p>
        </p:txBody>
      </p:sp>
    </p:spTree>
    <p:extLst>
      <p:ext uri="{BB962C8B-B14F-4D97-AF65-F5344CB8AC3E}">
        <p14:creationId xmlns:p14="http://schemas.microsoft.com/office/powerpoint/2010/main" val="305759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Every day, millions of images are uploaded to the internet. Humans can instantly recognize whether an image contains a cat, a dog, or a car. But how can we teach a computer to do the same thing?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challenge lies at the heart of computer vision and deep learning.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Good morning/afternoon everyone. My name is Shradha Janib, and today I will be presenting my project, CNN Performance Evaluation System.</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focus of this project is a simple but important question: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Does making a CNN deeper always improve its performance?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 answer this, I designed and compared three CNN architectures of increasing depth and evaluated how they learn, classify images, and generalize to unseen data.</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a:t>
            </a:fld>
            <a:endParaRPr lang="en-GB"/>
          </a:p>
        </p:txBody>
      </p:sp>
    </p:spTree>
    <p:extLst>
      <p:ext uri="{BB962C8B-B14F-4D97-AF65-F5344CB8AC3E}">
        <p14:creationId xmlns:p14="http://schemas.microsoft.com/office/powerpoint/2010/main" val="2217457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Most of us interact with CNNs every day without even realizing it.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When your smartphone unlocks using facial recognition, when a self-driving car detects pedestrians and road signs, or when doctors use AI to analyse medical scans, CNNs are often working behind the scenes.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What makes CNNs powerful is their ability to automatically discover important patterns within images rather than relying on manually designed features.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However, one of the biggest design decisions when building a CNN is determining how deep the network should be.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While deeper networks can learn more sophisticated features, they also require more computational resources and may become harder to train.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project explores whether increasing network depth genuinely improves image classification performance.</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2</a:t>
            </a:fld>
            <a:endParaRPr lang="en-GB"/>
          </a:p>
        </p:txBody>
      </p:sp>
    </p:spTree>
    <p:extLst>
      <p:ext uri="{BB962C8B-B14F-4D97-AF65-F5344CB8AC3E}">
        <p14:creationId xmlns:p14="http://schemas.microsoft.com/office/powerpoint/2010/main" val="8016343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To investigate whether deeper CNNs truly perform better, I compared three architectures of increasing depth.</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Rather than looking at accuracy alone, I evaluated the models from multiple perspectives.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These included how accurately they classified unseen images, how efficiently they learned during training, which classes they classified correctly or incorrectly, and whether increased complexity resulted in meaningful performance improvements.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Together, these measures provide a comprehensive evaluation of CNN depth.</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3</a:t>
            </a:fld>
            <a:endParaRPr lang="en-GB"/>
          </a:p>
        </p:txBody>
      </p:sp>
    </p:spTree>
    <p:extLst>
      <p:ext uri="{BB962C8B-B14F-4D97-AF65-F5344CB8AC3E}">
        <p14:creationId xmlns:p14="http://schemas.microsoft.com/office/powerpoint/2010/main" val="2658130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For this investigation, I used the CIFAR-10 dataset, one of the most widely used benchmark datasets in image classification research.</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dataset contains 60,000 colour images distributed across 10 object categories, including airplanes, automobiles, birds, cats, deer, dogs, frogs, horses, ships, and trucks.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Each image has a resolution of 32 by 32 pixels.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dataset is divided into 50,000 training images and 10,000 testing images.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training set is used to teach the CNN models to recognize visual patterns, while the testing set evaluates how well the models generalize to unseen images.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Another important advantage of CIFAR-10 is its balanced class distribution, which ensures a fair comparison between different CNN architectures.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4</a:t>
            </a:fld>
            <a:endParaRPr lang="en-GB"/>
          </a:p>
        </p:txBody>
      </p:sp>
    </p:spTree>
    <p:extLst>
      <p:ext uri="{BB962C8B-B14F-4D97-AF65-F5344CB8AC3E}">
        <p14:creationId xmlns:p14="http://schemas.microsoft.com/office/powerpoint/2010/main" val="3876568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Building an effective CNN involves much more than simply training a model and checking its accuracy.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 answer the research question systematically, I followed a structured six-step implementation process.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First, data preprocessing and normalization were performed.</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Second, the dataset was loaded using PyTorch </a:t>
            </a:r>
            <a:r>
              <a:rPr lang="en-GB" sz="1200" b="1" kern="1200" dirty="0" err="1">
                <a:solidFill>
                  <a:schemeClr val="tx1"/>
                </a:solidFill>
                <a:effectLst/>
                <a:latin typeface="+mn-lt"/>
                <a:ea typeface="+mn-ea"/>
                <a:cs typeface="+mn-cs"/>
              </a:rPr>
              <a:t>DataLoaders</a:t>
            </a:r>
            <a:r>
              <a:rPr lang="en-GB" sz="1200" b="1"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Third, three CNN architectures of different depths were created.</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Fourth, the models were trained on the CIFAR-10 dataset.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Fifth, performance evaluation was conducted using test accuracy.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Finally, confusion matrix analysis was used to investigate class-wise prediction performance and common classification errors.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Together, these steps formed a complete framework for evaluating CNN depth.</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5</a:t>
            </a:fld>
            <a:endParaRPr lang="en-GB"/>
          </a:p>
        </p:txBody>
      </p:sp>
    </p:spTree>
    <p:extLst>
      <p:ext uri="{BB962C8B-B14F-4D97-AF65-F5344CB8AC3E}">
        <p14:creationId xmlns:p14="http://schemas.microsoft.com/office/powerpoint/2010/main" val="1397787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Now that we have established the overall implementation framework, let's begin with the foundation of every successful deep learning project: the data.</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No matter how powerful a CNN architecture is, its performance depends heavily on how well the data is prepared before training.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CIFAR-10 images were first converted into PyTorch tensors using the ToTensor() function, allowing the CNN to process image data mathematically.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Next, the pixel values were normalized from a range of 0 to 255 to approximately minus 1 to plus 1.</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improves training stability, speeds up learning, and helps the models converge more effectively.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dataset was then loaded using PyTorch </a:t>
            </a:r>
            <a:r>
              <a:rPr lang="en-GB" sz="1200" b="1" kern="1200" dirty="0" err="1">
                <a:solidFill>
                  <a:schemeClr val="tx1"/>
                </a:solidFill>
                <a:effectLst/>
                <a:latin typeface="+mn-lt"/>
                <a:ea typeface="+mn-ea"/>
                <a:cs typeface="+mn-cs"/>
              </a:rPr>
              <a:t>DataLoaders</a:t>
            </a:r>
            <a:r>
              <a:rPr lang="en-GB" sz="1200" b="1" kern="1200" dirty="0">
                <a:solidFill>
                  <a:schemeClr val="tx1"/>
                </a:solidFill>
                <a:effectLst/>
                <a:latin typeface="+mn-lt"/>
                <a:ea typeface="+mn-ea"/>
                <a:cs typeface="+mn-cs"/>
              </a:rPr>
              <a:t>, which process the data in batches rather than loading all images at once.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 batch size of 64 was selected to balance memory usage and computational efficiency.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Finally, the training data was shuffled before each epoch to improve learning and prevent the model from developing unwanted patterns based on data order.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These preprocessing steps ensured efficient and reliable CNN training.</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6</a:t>
            </a:fld>
            <a:endParaRPr lang="en-GB"/>
          </a:p>
        </p:txBody>
      </p:sp>
    </p:spTree>
    <p:extLst>
      <p:ext uri="{BB962C8B-B14F-4D97-AF65-F5344CB8AC3E}">
        <p14:creationId xmlns:p14="http://schemas.microsoft.com/office/powerpoint/2010/main" val="735006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Imagine teaching three students the same subject.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One receives only the basics, another receives more detailed instruction, and the third receives the most advanced training.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Which student would perform best?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 answer a similar question for neural networks, I designed three CNN architectures of increasing depth.</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Shallow CNN contains 2 convolutional layers and focuses on learning basic visual features such as edges and textures.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Medium CNN contains 4 convolutional layers, enabling it to capture more detailed patterns and image representations.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Deep CNN contains 6 convolutional layers and includes dropout regularization, allowing it to learn complex hierarchical features while reducing overfitting.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All three architectures use convolutional layers for feature extraction, ReLU activation functions to introduce non-linearity, MaxPooling layers to reduce image dimensions, and fully connected layers for final classification into the 10 CIFAR-10 classes.</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7</a:t>
            </a:fld>
            <a:endParaRPr lang="en-GB"/>
          </a:p>
        </p:txBody>
      </p:sp>
    </p:spTree>
    <p:extLst>
      <p:ext uri="{BB962C8B-B14F-4D97-AF65-F5344CB8AC3E}">
        <p14:creationId xmlns:p14="http://schemas.microsoft.com/office/powerpoint/2010/main" val="960498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Designing a CNN is like building a race car—but its true performance is only revealed once it enters the race.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Similarly, after creating the CNN architectures, the next step was to train them on the CIFAR-10 dataset and observe how effectively they could learn from the images.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 optimize learning, I used the Adam Optimizer, which efficiently updates network parameters and helps the models converge faster.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Cross-Entropy Loss was used to measure prediction errors and guide the optimization process for multi-class classification.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Each model was trained for 10 epochs, meaning the entire training dataset was processed ten times.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During forward propagation, images passed through the network to generate predictions.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prediction error was then calculated, and backpropagation was used to compute gradients and update the model weights.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Throughout training, both accuracy and loss were monitored to evaluate learning effectiveness and convergence.</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8</a:t>
            </a:fld>
            <a:endParaRPr lang="en-GB"/>
          </a:p>
        </p:txBody>
      </p:sp>
    </p:spTree>
    <p:extLst>
      <p:ext uri="{BB962C8B-B14F-4D97-AF65-F5344CB8AC3E}">
        <p14:creationId xmlns:p14="http://schemas.microsoft.com/office/powerpoint/2010/main" val="2862076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Now let's examine how effectively the models learned from the training data.</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All three CNN architectures showed a steady increase in training accuracy across the 10 epochs, indicating successful learning and convergence.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Medium CNN achieved the highest training accuracy of 96.49%, suggesting that it provided an effective balance between network complexity and feature learning capability.</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Shallow CNN achieved 93.58%, demonstrating strong performance but with limitations in learning more complex image features.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Deep CNN achieved 87.18%. Although it contained more layers, dropout regularization and increased complexity resulted in slower convergence during training.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An important observation is that higher model complexity did not automatically result in higher training accuracy.</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9</a:t>
            </a:fld>
            <a:endParaRPr lang="en-GB"/>
          </a:p>
        </p:txBody>
      </p:sp>
    </p:spTree>
    <p:extLst>
      <p:ext uri="{BB962C8B-B14F-4D97-AF65-F5344CB8AC3E}">
        <p14:creationId xmlns:p14="http://schemas.microsoft.com/office/powerpoint/2010/main" val="138582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Training loss provides a deeper insight into the learning process by measuring how far predictions are from the correct answers.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All three models showed a consistent decrease in loss throughout training, indicating effective learning and optimization.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Medium CNN achieved the lowest final loss of 0.0985, demonstrating the most efficient learning process.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Shallow CNN achieved a final loss of 0.1864, while the Deep CNN recorded the highest final loss of 0.3621.</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Deep CNN's higher loss was largely due to its increased complexity and the use of dropout regularization, which intentionally makes learning more challenging to improve generalization.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At this stage, the Medium CNN appeared to be the strongest model.</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However, the real test was still to come.</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10</a:t>
            </a:fld>
            <a:endParaRPr lang="en-GB"/>
          </a:p>
        </p:txBody>
      </p:sp>
    </p:spTree>
    <p:extLst>
      <p:ext uri="{BB962C8B-B14F-4D97-AF65-F5344CB8AC3E}">
        <p14:creationId xmlns:p14="http://schemas.microsoft.com/office/powerpoint/2010/main" val="2066105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At this point, you might expect the Medium CNN to be the best-performing model because it achieved both the highest training accuracy and the lowest training loss.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However, machine learning often teaches us an important lesson:</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 model that performs best during training does not always perform best in the real world.</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When evaluated on unseen test images, the Deep CNN achieved the highest test accuracy of 77.57%.</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Medium CNN achieved 75.14%, while the Shallow CNN achieved 72.67%.</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additional convolutional layers and dropout regularization enabled the Deep CNN to learn richer and more transferable image features, resulting in stronger generalization performance.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was the most important finding of the project.</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11</a:t>
            </a:fld>
            <a:endParaRPr lang="en-GB"/>
          </a:p>
        </p:txBody>
      </p:sp>
    </p:spTree>
    <p:extLst>
      <p:ext uri="{BB962C8B-B14F-4D97-AF65-F5344CB8AC3E}">
        <p14:creationId xmlns:p14="http://schemas.microsoft.com/office/powerpoint/2010/main" val="1117281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While test accuracy tells us how often the model is correct, the confusion matrix helps us understand where the model succeeds and where it struggles.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Deep CNN performed particularly well on classes such as car, ship, frog, and truck, achieving the highest numbers of correct predictions.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However, visually similar classes such as cat and dog, and deer and horse, remained more challenging.</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These misclassifications occurred because the classes share similar shapes, textures, and visual characteristics.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shows that the model learned meaningful image features, but visually similar categories remain one of the biggest challenges in image classification.</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12</a:t>
            </a:fld>
            <a:endParaRPr lang="en-GB"/>
          </a:p>
        </p:txBody>
      </p:sp>
    </p:spTree>
    <p:extLst>
      <p:ext uri="{BB962C8B-B14F-4D97-AF65-F5344CB8AC3E}">
        <p14:creationId xmlns:p14="http://schemas.microsoft.com/office/powerpoint/2010/main" val="1051673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mn-lt"/>
                <a:ea typeface="+mn-ea"/>
                <a:cs typeface="+mn-cs"/>
              </a:rPr>
              <a:t>Let's return to the question that motivated this project: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Does increasing CNN depth improve image classification performance?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Based on the results, the answer is yes—but not always in the way we might expect.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Although the Medium CNN achieved the highest training accuracy and lowest training loss, it was the Deep CNN that achieved the highest test accuracy of 77.57%.</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This demonstrates that learning the training data well is not enough.</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true goal of machine learning is to perform effectively on data the model has never seen before.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Deep CNN's additional layers and dropout regularization enabled it to learn more robust and transferable image features, resulting in stronger generalization performance.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key takeaway is simple: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The best model is not the one that memorizes the data, but the one that generalizes the best.</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13</a:t>
            </a:fld>
            <a:endParaRPr lang="en-GB"/>
          </a:p>
        </p:txBody>
      </p:sp>
    </p:spTree>
    <p:extLst>
      <p:ext uri="{BB962C8B-B14F-4D97-AF65-F5344CB8AC3E}">
        <p14:creationId xmlns:p14="http://schemas.microsoft.com/office/powerpoint/2010/main" val="897255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Before concluding, I would like to acknowledge the key resources that supported this project.</a:t>
            </a:r>
          </a:p>
          <a:p>
            <a:endParaRPr lang="en-GB" b="1" dirty="0"/>
          </a:p>
          <a:p>
            <a:r>
              <a:rPr lang="en-GB" b="1" dirty="0"/>
              <a:t>LeCun et al. provided the theoretical foundation for Convolutional Neural Networks, while </a:t>
            </a:r>
            <a:r>
              <a:rPr lang="en-GB" b="1" dirty="0" err="1"/>
              <a:t>Krizhevsky</a:t>
            </a:r>
            <a:r>
              <a:rPr lang="en-GB" b="1" dirty="0"/>
              <a:t> et al. demonstrated the effectiveness of deep CNN architectures for image classification.</a:t>
            </a:r>
          </a:p>
          <a:p>
            <a:endParaRPr lang="en-GB" b="1" dirty="0"/>
          </a:p>
          <a:p>
            <a:r>
              <a:rPr lang="en-GB" b="1" dirty="0"/>
              <a:t>The CIFAR-10 dataset was used to train and evaluate the models, and the PyTorch framework provided the tools required for implementation.</a:t>
            </a:r>
          </a:p>
          <a:p>
            <a:endParaRPr lang="en-GB" b="1" dirty="0"/>
          </a:p>
          <a:p>
            <a:r>
              <a:rPr lang="en-GB" b="1" dirty="0"/>
              <a:t>Thank you for your time and attention.</a:t>
            </a:r>
            <a:endParaRPr lang="en-GB" dirty="0"/>
          </a:p>
        </p:txBody>
      </p:sp>
      <p:sp>
        <p:nvSpPr>
          <p:cNvPr id="4" name="Slide Number Placeholder 3"/>
          <p:cNvSpPr>
            <a:spLocks noGrp="1"/>
          </p:cNvSpPr>
          <p:nvPr>
            <p:ph type="sldNum" sz="quarter" idx="5"/>
          </p:nvPr>
        </p:nvSpPr>
        <p:spPr/>
        <p:txBody>
          <a:bodyPr/>
          <a:lstStyle/>
          <a:p>
            <a:fld id="{68595263-173D-4480-91F8-65C17A345CD1}" type="slidenum">
              <a:rPr lang="en-GB" smtClean="0"/>
              <a:t>14</a:t>
            </a:fld>
            <a:endParaRPr lang="en-GB"/>
          </a:p>
        </p:txBody>
      </p:sp>
    </p:spTree>
    <p:extLst>
      <p:ext uri="{BB962C8B-B14F-4D97-AF65-F5344CB8AC3E}">
        <p14:creationId xmlns:p14="http://schemas.microsoft.com/office/powerpoint/2010/main" val="1757279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5/26/2026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619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5/26/2026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1338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5/26/2026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9895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5/26/2026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27481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5/26/2026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46969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5/26/2026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510973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5/26/2026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01455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5/26/2026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879043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5/26/2026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90244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5/26/2026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7521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5/26/2026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99506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5/26/2026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7770219"/>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2" r:id="rId6"/>
    <p:sldLayoutId id="2147484088" r:id="rId7"/>
    <p:sldLayoutId id="2147484089" r:id="rId8"/>
    <p:sldLayoutId id="2147484090" r:id="rId9"/>
    <p:sldLayoutId id="2147484091" r:id="rId10"/>
    <p:sldLayoutId id="21474840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hyperlink" Target="https://pytorch.org/docs/stable/index.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cs.toronto.edu/~kriz/cifar.html" TargetMode="External"/><Relationship Id="rId5" Type="http://schemas.openxmlformats.org/officeDocument/2006/relationships/hyperlink" Target="https://papers.nips.cc/paper/4824-imagenet-classification-with-deep-convolutional-neural-networks.pdf" TargetMode="External"/><Relationship Id="rId4" Type="http://schemas.openxmlformats.org/officeDocument/2006/relationships/hyperlink" Target="https://ieeexplore.ieee.org/document/72679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72" name="Rectangle 1071">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Machine Learning Logo designs, themes, templates and downloadable ...">
            <a:extLst>
              <a:ext uri="{FF2B5EF4-FFF2-40B4-BE49-F238E27FC236}">
                <a16:creationId xmlns:a16="http://schemas.microsoft.com/office/drawing/2014/main" id="{D16DEA1C-AB96-6D2F-FC93-61B716A5E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 r="5168"/>
          <a:stretch>
            <a:fillRect/>
          </a:stretch>
        </p:blipFill>
        <p:spPr bwMode="auto">
          <a:xfrm>
            <a:off x="20" y="10"/>
            <a:ext cx="866849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74" name="Rectangle 1073">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B02EB4-82A4-D931-AADB-CA044CC30823}"/>
              </a:ext>
            </a:extLst>
          </p:cNvPr>
          <p:cNvSpPr>
            <a:spLocks noGrp="1"/>
          </p:cNvSpPr>
          <p:nvPr>
            <p:ph type="ctrTitle"/>
          </p:nvPr>
        </p:nvSpPr>
        <p:spPr>
          <a:xfrm>
            <a:off x="7030387" y="1122363"/>
            <a:ext cx="4841573" cy="3204134"/>
          </a:xfrm>
        </p:spPr>
        <p:txBody>
          <a:bodyPr anchor="b">
            <a:normAutofit/>
          </a:bodyPr>
          <a:lstStyle/>
          <a:p>
            <a:r>
              <a:rPr lang="en-GB" sz="4400" b="1" i="1" dirty="0">
                <a:latin typeface="Abadi" panose="020B0604020104020204" pitchFamily="34" charset="0"/>
                <a:ea typeface="+mn-ea"/>
                <a:cs typeface="+mn-cs"/>
              </a:rPr>
              <a:t>CNN Performance Evaluation System</a:t>
            </a:r>
            <a:br>
              <a:rPr lang="en-GB" sz="4400" dirty="0">
                <a:latin typeface="Abadi" panose="020B0604020104020204" pitchFamily="34" charset="0"/>
              </a:rPr>
            </a:br>
            <a:endParaRPr lang="en-GB" sz="4400" dirty="0">
              <a:latin typeface="Abadi" panose="020B0604020104020204" pitchFamily="34" charset="0"/>
            </a:endParaRPr>
          </a:p>
        </p:txBody>
      </p:sp>
      <p:sp>
        <p:nvSpPr>
          <p:cNvPr id="3" name="Subtitle 2">
            <a:extLst>
              <a:ext uri="{FF2B5EF4-FFF2-40B4-BE49-F238E27FC236}">
                <a16:creationId xmlns:a16="http://schemas.microsoft.com/office/drawing/2014/main" id="{944B8128-8708-60D8-37C2-2EC5B17F3298}"/>
              </a:ext>
            </a:extLst>
          </p:cNvPr>
          <p:cNvSpPr>
            <a:spLocks noGrp="1"/>
          </p:cNvSpPr>
          <p:nvPr>
            <p:ph type="subTitle" idx="1"/>
          </p:nvPr>
        </p:nvSpPr>
        <p:spPr>
          <a:xfrm>
            <a:off x="7210269" y="4872922"/>
            <a:ext cx="4661691" cy="1208141"/>
          </a:xfrm>
        </p:spPr>
        <p:txBody>
          <a:bodyPr>
            <a:normAutofit/>
          </a:bodyPr>
          <a:lstStyle/>
          <a:p>
            <a:r>
              <a:rPr lang="en-GB" sz="2000" b="1" dirty="0">
                <a:latin typeface="Abadi" panose="020B0604020104020204" pitchFamily="34" charset="0"/>
              </a:rPr>
              <a:t>Presented By</a:t>
            </a:r>
          </a:p>
          <a:p>
            <a:r>
              <a:rPr lang="en-GB" sz="2000" b="1" dirty="0">
                <a:latin typeface="Abadi" panose="020B0604020104020204" pitchFamily="34" charset="0"/>
              </a:rPr>
              <a:t>Shradha Janib</a:t>
            </a:r>
          </a:p>
        </p:txBody>
      </p:sp>
      <p:sp>
        <p:nvSpPr>
          <p:cNvPr id="1071" name="Rectangle 107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73" name="Rectangle 107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8940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C62E90B-A075-4D26-59A2-340C6182C113}"/>
              </a:ext>
            </a:extLst>
          </p:cNvPr>
          <p:cNvSpPr>
            <a:spLocks noGrp="1"/>
          </p:cNvSpPr>
          <p:nvPr>
            <p:ph type="title"/>
          </p:nvPr>
        </p:nvSpPr>
        <p:spPr>
          <a:xfrm>
            <a:off x="838200" y="253397"/>
            <a:ext cx="10515600" cy="1273233"/>
          </a:xfrm>
        </p:spPr>
        <p:txBody>
          <a:bodyPr>
            <a:normAutofit/>
          </a:bodyPr>
          <a:lstStyle/>
          <a:p>
            <a:r>
              <a:rPr lang="en-GB" sz="3600" b="1" dirty="0">
                <a:latin typeface="Abadi" panose="020B0604020104020204" pitchFamily="34" charset="0"/>
              </a:rPr>
              <a:t>INTRODUCTION</a:t>
            </a:r>
          </a:p>
        </p:txBody>
      </p:sp>
      <p:sp>
        <p:nvSpPr>
          <p:cNvPr id="25" name="Rectangle 24">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605DC5F-4047-3819-B611-B17D0137B433}"/>
              </a:ext>
            </a:extLst>
          </p:cNvPr>
          <p:cNvSpPr>
            <a:spLocks noGrp="1"/>
          </p:cNvSpPr>
          <p:nvPr>
            <p:ph idx="1"/>
          </p:nvPr>
        </p:nvSpPr>
        <p:spPr>
          <a:xfrm>
            <a:off x="838200" y="2152998"/>
            <a:ext cx="10515600" cy="4019202"/>
          </a:xfrm>
        </p:spPr>
        <p:txBody>
          <a:bodyPr>
            <a:normAutofit/>
          </a:bodyPr>
          <a:lstStyle/>
          <a:p>
            <a:pPr>
              <a:lnSpc>
                <a:spcPct val="100000"/>
              </a:lnSpc>
            </a:pPr>
            <a:r>
              <a:rPr lang="en-GB" sz="1800" dirty="0">
                <a:latin typeface="Abadi" panose="020B0604020104020204" pitchFamily="34" charset="0"/>
              </a:rPr>
              <a:t>Convolutional Neural Networks (CNNs) are one of the most important deep learning techniques used in computer vision tasks such as image classification, object detection and facial recognition. CNNs are designed to automatically learn important visual features from images through convolutional operations.</a:t>
            </a:r>
          </a:p>
          <a:p>
            <a:pPr>
              <a:lnSpc>
                <a:spcPct val="100000"/>
              </a:lnSpc>
            </a:pPr>
            <a:r>
              <a:rPr lang="en-GB" sz="1800" dirty="0">
                <a:latin typeface="Abadi" panose="020B0604020104020204" pitchFamily="34" charset="0"/>
              </a:rPr>
              <a:t>One major factor that affects CNN performance is the depth of the network. A shallow CNN may only learn basic image features such as edges and textures, while deeper CNNs can learn more complex and abstract patterns. However, increasing network depth also increases computational cost and the risk of overfitting.</a:t>
            </a:r>
          </a:p>
          <a:p>
            <a:pPr>
              <a:lnSpc>
                <a:spcPct val="100000"/>
              </a:lnSpc>
            </a:pPr>
            <a:r>
              <a:rPr lang="en-GB" sz="1800" dirty="0">
                <a:latin typeface="Abadi" panose="020B0604020104020204" pitchFamily="34" charset="0"/>
              </a:rPr>
              <a:t>This project investigates how CNN depth influences image classification performance using the CIFAR-10 dataset.</a:t>
            </a:r>
          </a:p>
          <a:p>
            <a:pPr>
              <a:lnSpc>
                <a:spcPct val="100000"/>
              </a:lnSpc>
            </a:pPr>
            <a:endParaRPr lang="en-GB" sz="2000" dirty="0"/>
          </a:p>
        </p:txBody>
      </p:sp>
    </p:spTree>
    <p:extLst>
      <p:ext uri="{BB962C8B-B14F-4D97-AF65-F5344CB8AC3E}">
        <p14:creationId xmlns:p14="http://schemas.microsoft.com/office/powerpoint/2010/main" val="3242682978"/>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90D805-2F98-148B-548E-860014D1F1FD}"/>
              </a:ext>
            </a:extLst>
          </p:cNvPr>
          <p:cNvSpPr>
            <a:spLocks noGrp="1"/>
          </p:cNvSpPr>
          <p:nvPr>
            <p:ph type="title"/>
          </p:nvPr>
        </p:nvSpPr>
        <p:spPr>
          <a:xfrm>
            <a:off x="5359510" y="978619"/>
            <a:ext cx="5991244" cy="1106424"/>
          </a:xfrm>
        </p:spPr>
        <p:txBody>
          <a:bodyPr>
            <a:normAutofit/>
          </a:bodyPr>
          <a:lstStyle/>
          <a:p>
            <a:r>
              <a:rPr lang="en-GB" sz="3600" b="1" dirty="0">
                <a:latin typeface="Abadi" panose="020B0604020104020204" pitchFamily="34" charset="0"/>
              </a:rPr>
              <a:t>RESEARCH MOTIVATION</a:t>
            </a:r>
          </a:p>
        </p:txBody>
      </p:sp>
      <p:pic>
        <p:nvPicPr>
          <p:cNvPr id="5" name="Picture 4" descr="Blue blocks and networks technology background">
            <a:extLst>
              <a:ext uri="{FF2B5EF4-FFF2-40B4-BE49-F238E27FC236}">
                <a16:creationId xmlns:a16="http://schemas.microsoft.com/office/drawing/2014/main" id="{4D581752-9473-B186-0BAB-73326712B22D}"/>
              </a:ext>
            </a:extLst>
          </p:cNvPr>
          <p:cNvPicPr>
            <a:picLocks noChangeAspect="1"/>
          </p:cNvPicPr>
          <p:nvPr/>
        </p:nvPicPr>
        <p:blipFill>
          <a:blip r:embed="rId3"/>
          <a:srcRect l="16089" r="46958"/>
          <a:stretch>
            <a:fillRect/>
          </a:stretch>
        </p:blipFill>
        <p:spPr>
          <a:xfrm>
            <a:off x="626223" y="630936"/>
            <a:ext cx="3610256" cy="5495544"/>
          </a:xfrm>
          <a:prstGeom prst="rect">
            <a:avLst/>
          </a:prstGeom>
        </p:spPr>
      </p:pic>
      <p:sp>
        <p:nvSpPr>
          <p:cNvPr id="31" name="Rectangle 30">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A5FB341-1A10-FAC1-3F7E-A199015BA739}"/>
              </a:ext>
            </a:extLst>
          </p:cNvPr>
          <p:cNvSpPr>
            <a:spLocks noGrp="1"/>
          </p:cNvSpPr>
          <p:nvPr>
            <p:ph idx="1"/>
          </p:nvPr>
        </p:nvSpPr>
        <p:spPr>
          <a:xfrm>
            <a:off x="5356861" y="2252870"/>
            <a:ext cx="5993892" cy="3560251"/>
          </a:xfrm>
        </p:spPr>
        <p:txBody>
          <a:bodyPr>
            <a:normAutofit/>
          </a:bodyPr>
          <a:lstStyle/>
          <a:p>
            <a:r>
              <a:rPr lang="en-GB" sz="1800" dirty="0">
                <a:latin typeface="Abadi" panose="020B0604020104020204" pitchFamily="34" charset="0"/>
              </a:rPr>
              <a:t>This study investigates how increasing CNN depth influences image classification performance by comparing </a:t>
            </a:r>
            <a:r>
              <a:rPr lang="en-GB" sz="1800" b="1" dirty="0">
                <a:latin typeface="Abadi" panose="020B0604020104020204" pitchFamily="34" charset="0"/>
              </a:rPr>
              <a:t>Shallow, Medium, and Deep CNN architectures</a:t>
            </a:r>
            <a:r>
              <a:rPr lang="en-GB" sz="1800" dirty="0">
                <a:latin typeface="Abadi" panose="020B0604020104020204" pitchFamily="34" charset="0"/>
              </a:rPr>
              <a:t> with respect to:</a:t>
            </a:r>
          </a:p>
          <a:p>
            <a:r>
              <a:rPr lang="en-GB" sz="1800" dirty="0">
                <a:latin typeface="Abadi" panose="020B0604020104020204" pitchFamily="34" charset="0"/>
              </a:rPr>
              <a:t>Classification Accuracy </a:t>
            </a:r>
          </a:p>
          <a:p>
            <a:r>
              <a:rPr lang="en-GB" sz="1800" dirty="0">
                <a:latin typeface="Abadi" panose="020B0604020104020204" pitchFamily="34" charset="0"/>
              </a:rPr>
              <a:t>Training Performance </a:t>
            </a:r>
          </a:p>
          <a:p>
            <a:r>
              <a:rPr lang="en-GB" sz="1800" dirty="0">
                <a:latin typeface="Abadi" panose="020B0604020104020204" pitchFamily="34" charset="0"/>
              </a:rPr>
              <a:t>Confusion Matrix Analysis </a:t>
            </a:r>
          </a:p>
          <a:p>
            <a:r>
              <a:rPr lang="en-GB" sz="1800" dirty="0">
                <a:latin typeface="Abadi" panose="020B0604020104020204" pitchFamily="34" charset="0"/>
              </a:rPr>
              <a:t>Model Complexity</a:t>
            </a:r>
          </a:p>
          <a:p>
            <a:endParaRPr lang="en-GB" sz="1800" dirty="0"/>
          </a:p>
        </p:txBody>
      </p:sp>
    </p:spTree>
    <p:extLst>
      <p:ext uri="{BB962C8B-B14F-4D97-AF65-F5344CB8AC3E}">
        <p14:creationId xmlns:p14="http://schemas.microsoft.com/office/powerpoint/2010/main" val="383621130"/>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 name="Rectangle 48">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3857"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98F22E-8DA5-CB51-EF23-E7F30804BC13}"/>
              </a:ext>
            </a:extLst>
          </p:cNvPr>
          <p:cNvSpPr>
            <a:spLocks noGrp="1"/>
          </p:cNvSpPr>
          <p:nvPr>
            <p:ph type="title"/>
          </p:nvPr>
        </p:nvSpPr>
        <p:spPr>
          <a:xfrm>
            <a:off x="5359510" y="978619"/>
            <a:ext cx="5991244" cy="1106424"/>
          </a:xfrm>
        </p:spPr>
        <p:txBody>
          <a:bodyPr>
            <a:normAutofit/>
          </a:bodyPr>
          <a:lstStyle/>
          <a:p>
            <a:r>
              <a:rPr lang="en-GB" sz="3600" b="1" dirty="0">
                <a:latin typeface="Abadi" panose="020B0604020104020204" pitchFamily="34" charset="0"/>
              </a:rPr>
              <a:t>DATASET STRUCTURE</a:t>
            </a:r>
          </a:p>
        </p:txBody>
      </p:sp>
      <p:pic>
        <p:nvPicPr>
          <p:cNvPr id="16" name="Picture 15">
            <a:extLst>
              <a:ext uri="{FF2B5EF4-FFF2-40B4-BE49-F238E27FC236}">
                <a16:creationId xmlns:a16="http://schemas.microsoft.com/office/drawing/2014/main" id="{583CD0BB-127B-02EF-2531-D4EFA1EBA10E}"/>
              </a:ext>
            </a:extLst>
          </p:cNvPr>
          <p:cNvPicPr>
            <a:picLocks noChangeAspect="1"/>
          </p:cNvPicPr>
          <p:nvPr/>
        </p:nvPicPr>
        <p:blipFill>
          <a:blip r:embed="rId3"/>
          <a:stretch>
            <a:fillRect/>
          </a:stretch>
        </p:blipFill>
        <p:spPr>
          <a:xfrm>
            <a:off x="414528" y="1588777"/>
            <a:ext cx="4033647" cy="3579861"/>
          </a:xfrm>
          <a:prstGeom prst="rect">
            <a:avLst/>
          </a:prstGeom>
        </p:spPr>
      </p:pic>
      <p:sp>
        <p:nvSpPr>
          <p:cNvPr id="51" name="Rectangle 50">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9848"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Rectangle 56">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859"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A7E985D-002E-4E4B-8307-05DC8DEB5B0A}"/>
              </a:ext>
            </a:extLst>
          </p:cNvPr>
          <p:cNvSpPr>
            <a:spLocks noGrp="1"/>
          </p:cNvSpPr>
          <p:nvPr>
            <p:ph idx="1"/>
          </p:nvPr>
        </p:nvSpPr>
        <p:spPr>
          <a:xfrm>
            <a:off x="5356861" y="2252870"/>
            <a:ext cx="5993892" cy="3560251"/>
          </a:xfrm>
        </p:spPr>
        <p:txBody>
          <a:bodyPr>
            <a:normAutofit/>
          </a:bodyPr>
          <a:lstStyle/>
          <a:p>
            <a:r>
              <a:rPr lang="en-GB" sz="1600" dirty="0">
                <a:latin typeface="Abadi" panose="020B0604020104020204" pitchFamily="34" charset="0"/>
              </a:rPr>
              <a:t>The project uses the CIFAR-10 dataset.</a:t>
            </a:r>
          </a:p>
          <a:p>
            <a:r>
              <a:rPr lang="en-GB" sz="1600" b="1" dirty="0">
                <a:latin typeface="Abadi" panose="020B0604020104020204" pitchFamily="34" charset="0"/>
              </a:rPr>
              <a:t>Dataset Characteristics</a:t>
            </a:r>
          </a:p>
          <a:p>
            <a:r>
              <a:rPr lang="en-GB" sz="1600" dirty="0">
                <a:latin typeface="Abadi" panose="020B0604020104020204" pitchFamily="34" charset="0"/>
              </a:rPr>
              <a:t>60,000 colour images </a:t>
            </a:r>
          </a:p>
          <a:p>
            <a:r>
              <a:rPr lang="en-GB" sz="1600" dirty="0">
                <a:latin typeface="Abadi" panose="020B0604020104020204" pitchFamily="34" charset="0"/>
              </a:rPr>
              <a:t>10 image classes </a:t>
            </a:r>
          </a:p>
          <a:p>
            <a:r>
              <a:rPr lang="en-GB" sz="1600" dirty="0">
                <a:latin typeface="Abadi" panose="020B0604020104020204" pitchFamily="34" charset="0"/>
              </a:rPr>
              <a:t>32×32 image resolution </a:t>
            </a:r>
          </a:p>
          <a:p>
            <a:r>
              <a:rPr lang="en-GB" sz="1600" dirty="0">
                <a:latin typeface="Abadi" panose="020B0604020104020204" pitchFamily="34" charset="0"/>
              </a:rPr>
              <a:t>50,000 training images </a:t>
            </a:r>
          </a:p>
          <a:p>
            <a:r>
              <a:rPr lang="en-GB" sz="1600" dirty="0">
                <a:latin typeface="Abadi" panose="020B0604020104020204" pitchFamily="34" charset="0"/>
              </a:rPr>
              <a:t>10,000 testing images </a:t>
            </a:r>
          </a:p>
          <a:p>
            <a:endParaRPr lang="en-GB" sz="1800" dirty="0"/>
          </a:p>
        </p:txBody>
      </p:sp>
      <p:sp>
        <p:nvSpPr>
          <p:cNvPr id="6" name="AutoShape 4" descr="Image result for DATA SET LOGO">
            <a:extLst>
              <a:ext uri="{FF2B5EF4-FFF2-40B4-BE49-F238E27FC236}">
                <a16:creationId xmlns:a16="http://schemas.microsoft.com/office/drawing/2014/main" id="{CEE34E48-A097-256E-8306-128A2D6A8D3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4" name="AutoShape 6" descr="Class distribution of CIFAR-10 dataset | Download Scientific Diagram">
            <a:extLst>
              <a:ext uri="{FF2B5EF4-FFF2-40B4-BE49-F238E27FC236}">
                <a16:creationId xmlns:a16="http://schemas.microsoft.com/office/drawing/2014/main" id="{4C678B37-BDC0-5096-C0B6-C13D5CF087C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94580583"/>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9" name="Rectangle 48">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3FE5C4D-A13D-18EC-8904-61747D4E2DC0}"/>
              </a:ext>
            </a:extLst>
          </p:cNvPr>
          <p:cNvSpPr>
            <a:spLocks noGrp="1"/>
          </p:cNvSpPr>
          <p:nvPr>
            <p:ph type="title"/>
          </p:nvPr>
        </p:nvSpPr>
        <p:spPr>
          <a:xfrm>
            <a:off x="1045029" y="507160"/>
            <a:ext cx="2993571" cy="5438730"/>
          </a:xfrm>
        </p:spPr>
        <p:txBody>
          <a:bodyPr>
            <a:normAutofit/>
          </a:bodyPr>
          <a:lstStyle/>
          <a:p>
            <a:r>
              <a:rPr lang="en-GB" sz="2700" b="1" dirty="0">
                <a:latin typeface="Abadi" panose="020B0604020104020204" pitchFamily="34" charset="0"/>
              </a:rPr>
              <a:t>IMPLEMENTATION STEPS</a:t>
            </a:r>
          </a:p>
        </p:txBody>
      </p:sp>
      <p:sp>
        <p:nvSpPr>
          <p:cNvPr id="51" name="Rectangle 50">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Content Placeholder 2">
            <a:extLst>
              <a:ext uri="{FF2B5EF4-FFF2-40B4-BE49-F238E27FC236}">
                <a16:creationId xmlns:a16="http://schemas.microsoft.com/office/drawing/2014/main" id="{32C18D81-5E29-5A81-0D2E-D93ED58FD0C6}"/>
              </a:ext>
            </a:extLst>
          </p:cNvPr>
          <p:cNvGraphicFramePr>
            <a:graphicFrameLocks noGrp="1"/>
          </p:cNvGraphicFramePr>
          <p:nvPr>
            <p:ph idx="1"/>
            <p:extLst>
              <p:ext uri="{D42A27DB-BD31-4B8C-83A1-F6EECF244321}">
                <p14:modId xmlns:p14="http://schemas.microsoft.com/office/powerpoint/2010/main" val="2212507392"/>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8548522"/>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C799903-48D5-4A31-A1A2-541072D97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Freeform: Shape 27">
            <a:extLst>
              <a:ext uri="{FF2B5EF4-FFF2-40B4-BE49-F238E27FC236}">
                <a16:creationId xmlns:a16="http://schemas.microsoft.com/office/drawing/2014/main" id="{8EFFF109-FC58-4FD3-BE05-9775A1310F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 name="Freeform: Shape 29">
            <a:extLst>
              <a:ext uri="{FF2B5EF4-FFF2-40B4-BE49-F238E27FC236}">
                <a16:creationId xmlns:a16="http://schemas.microsoft.com/office/drawing/2014/main" id="{E1B96AD6-92A9-4273-A62B-96A1C3E0BA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326A73-3762-9A82-ACC4-DA9E66083E2A}"/>
              </a:ext>
            </a:extLst>
          </p:cNvPr>
          <p:cNvSpPr>
            <a:spLocks noGrp="1"/>
          </p:cNvSpPr>
          <p:nvPr>
            <p:ph type="title"/>
          </p:nvPr>
        </p:nvSpPr>
        <p:spPr>
          <a:xfrm>
            <a:off x="621792" y="1161288"/>
            <a:ext cx="3602736" cy="4526280"/>
          </a:xfrm>
        </p:spPr>
        <p:txBody>
          <a:bodyPr>
            <a:normAutofit/>
          </a:bodyPr>
          <a:lstStyle/>
          <a:p>
            <a:r>
              <a:rPr lang="en-GB" b="1">
                <a:latin typeface="Abadi" panose="020B0604020104020204" pitchFamily="34" charset="0"/>
              </a:rPr>
              <a:t>DATA PROCESSING AND DATASET LOADING</a:t>
            </a:r>
          </a:p>
        </p:txBody>
      </p:sp>
      <p:sp>
        <p:nvSpPr>
          <p:cNvPr id="32" name="Rectangle 31">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102049"/>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Content Placeholder 2">
            <a:extLst>
              <a:ext uri="{FF2B5EF4-FFF2-40B4-BE49-F238E27FC236}">
                <a16:creationId xmlns:a16="http://schemas.microsoft.com/office/drawing/2014/main" id="{BC9AA7EF-B51A-26DE-95BD-26934C3E7DA8}"/>
              </a:ext>
            </a:extLst>
          </p:cNvPr>
          <p:cNvSpPr>
            <a:spLocks noGrp="1"/>
          </p:cNvSpPr>
          <p:nvPr>
            <p:ph idx="1"/>
          </p:nvPr>
        </p:nvSpPr>
        <p:spPr>
          <a:xfrm>
            <a:off x="5434149" y="932688"/>
            <a:ext cx="5916603" cy="4992624"/>
          </a:xfrm>
        </p:spPr>
        <p:txBody>
          <a:bodyPr anchor="ctr">
            <a:normAutofit/>
          </a:bodyPr>
          <a:lstStyle/>
          <a:p>
            <a:r>
              <a:rPr lang="en-GB" sz="1800" dirty="0">
                <a:latin typeface="Abadi" panose="020B0604020104020204" pitchFamily="34" charset="0"/>
              </a:rPr>
              <a:t>Converted CIFAR-10 images into PyTorch tensors using ToTensor() so the CNN can process images mathematically. </a:t>
            </a:r>
          </a:p>
          <a:p>
            <a:r>
              <a:rPr lang="en-GB" sz="1800" dirty="0">
                <a:latin typeface="Abadi" panose="020B0604020104020204" pitchFamily="34" charset="0"/>
              </a:rPr>
              <a:t>Normalized pixel values from </a:t>
            </a:r>
            <a:r>
              <a:rPr lang="en-GB" sz="1800" b="1" dirty="0">
                <a:latin typeface="Abadi" panose="020B0604020104020204" pitchFamily="34" charset="0"/>
              </a:rPr>
              <a:t>0–255</a:t>
            </a:r>
            <a:r>
              <a:rPr lang="en-GB" sz="1800" dirty="0">
                <a:latin typeface="Abadi" panose="020B0604020104020204" pitchFamily="34" charset="0"/>
              </a:rPr>
              <a:t> to approximately </a:t>
            </a:r>
            <a:r>
              <a:rPr lang="en-GB" sz="1800" b="1" dirty="0">
                <a:latin typeface="Abadi" panose="020B0604020104020204" pitchFamily="34" charset="0"/>
              </a:rPr>
              <a:t>-1 to +1</a:t>
            </a:r>
            <a:r>
              <a:rPr lang="en-GB" sz="1800" dirty="0">
                <a:latin typeface="Abadi" panose="020B0604020104020204" pitchFamily="34" charset="0"/>
              </a:rPr>
              <a:t> to improve training stability and learning speed. </a:t>
            </a:r>
          </a:p>
          <a:p>
            <a:r>
              <a:rPr lang="en-GB" sz="1800" dirty="0">
                <a:latin typeface="Abadi" panose="020B0604020104020204" pitchFamily="34" charset="0"/>
              </a:rPr>
              <a:t>Used DataLoader for efficient batch training and testing to handle large datasets more effectively. </a:t>
            </a:r>
          </a:p>
          <a:p>
            <a:r>
              <a:rPr lang="en-GB" sz="1800" dirty="0">
                <a:latin typeface="Abadi" panose="020B0604020104020204" pitchFamily="34" charset="0"/>
              </a:rPr>
              <a:t>Batch size set to </a:t>
            </a:r>
            <a:r>
              <a:rPr lang="en-GB" sz="1800" b="1" dirty="0">
                <a:latin typeface="Abadi" panose="020B0604020104020204" pitchFamily="34" charset="0"/>
              </a:rPr>
              <a:t>64</a:t>
            </a:r>
            <a:r>
              <a:rPr lang="en-GB" sz="1800" dirty="0">
                <a:latin typeface="Abadi" panose="020B0604020104020204" pitchFamily="34" charset="0"/>
              </a:rPr>
              <a:t> to balance memory usage and training performance. </a:t>
            </a:r>
          </a:p>
          <a:p>
            <a:r>
              <a:rPr lang="en-GB" sz="1800" dirty="0">
                <a:latin typeface="Abadi" panose="020B0604020104020204" pitchFamily="34" charset="0"/>
              </a:rPr>
              <a:t>Training data shuffled to improve model learning and prevent overfitting to data order patterns. </a:t>
            </a:r>
          </a:p>
          <a:p>
            <a:endParaRPr lang="en-GB" sz="2000" dirty="0"/>
          </a:p>
        </p:txBody>
      </p:sp>
    </p:spTree>
    <p:extLst>
      <p:ext uri="{BB962C8B-B14F-4D97-AF65-F5344CB8AC3E}">
        <p14:creationId xmlns:p14="http://schemas.microsoft.com/office/powerpoint/2010/main" val="1497929815"/>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93" name="Rectangle 4192">
            <a:extLst>
              <a:ext uri="{FF2B5EF4-FFF2-40B4-BE49-F238E27FC236}">
                <a16:creationId xmlns:a16="http://schemas.microsoft.com/office/drawing/2014/main" id="{5DF40726-9B19-4165-9C26-757D16E19E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CF438E94-E357-600D-73CE-0D1D186C61CA}"/>
              </a:ext>
            </a:extLst>
          </p:cNvPr>
          <p:cNvSpPr>
            <a:spLocks noGrp="1"/>
          </p:cNvSpPr>
          <p:nvPr>
            <p:ph type="title"/>
          </p:nvPr>
        </p:nvSpPr>
        <p:spPr>
          <a:xfrm>
            <a:off x="612648" y="929390"/>
            <a:ext cx="4114800" cy="2014978"/>
          </a:xfrm>
        </p:spPr>
        <p:txBody>
          <a:bodyPr anchor="t">
            <a:normAutofit/>
          </a:bodyPr>
          <a:lstStyle/>
          <a:p>
            <a:r>
              <a:rPr lang="en-GB" sz="2800" b="1" dirty="0">
                <a:latin typeface="Abadi" panose="020B0604020104020204" pitchFamily="34" charset="0"/>
              </a:rPr>
              <a:t>CNN MODEL CREATION</a:t>
            </a:r>
          </a:p>
        </p:txBody>
      </p:sp>
      <p:sp>
        <p:nvSpPr>
          <p:cNvPr id="4137" name="Content Placeholder 2">
            <a:extLst>
              <a:ext uri="{FF2B5EF4-FFF2-40B4-BE49-F238E27FC236}">
                <a16:creationId xmlns:a16="http://schemas.microsoft.com/office/drawing/2014/main" id="{EF41AFA6-DCAC-452D-7743-AA864BC50D50}"/>
              </a:ext>
            </a:extLst>
          </p:cNvPr>
          <p:cNvSpPr>
            <a:spLocks noGrp="1"/>
          </p:cNvSpPr>
          <p:nvPr>
            <p:ph idx="1"/>
          </p:nvPr>
        </p:nvSpPr>
        <p:spPr>
          <a:xfrm>
            <a:off x="4727448" y="929390"/>
            <a:ext cx="6620256" cy="5201239"/>
          </a:xfrm>
        </p:spPr>
        <p:txBody>
          <a:bodyPr>
            <a:normAutofit lnSpcReduction="10000"/>
          </a:bodyPr>
          <a:lstStyle/>
          <a:p>
            <a:r>
              <a:rPr lang="en-GB" sz="1700" dirty="0">
                <a:latin typeface="Abadi" panose="020B0604020104020204" pitchFamily="34" charset="0"/>
              </a:rPr>
              <a:t>Created three CNN architectures: </a:t>
            </a:r>
            <a:r>
              <a:rPr lang="en-GB" sz="1700" b="1" dirty="0">
                <a:latin typeface="Abadi" panose="020B0604020104020204" pitchFamily="34" charset="0"/>
              </a:rPr>
              <a:t>Shallow CNN, Medium CNN, and Deep CNN</a:t>
            </a:r>
            <a:r>
              <a:rPr lang="en-GB" sz="1700" dirty="0">
                <a:latin typeface="Abadi" panose="020B0604020104020204" pitchFamily="34" charset="0"/>
              </a:rPr>
              <a:t> to compare the effect of network depth on image classification performance. </a:t>
            </a:r>
          </a:p>
          <a:p>
            <a:r>
              <a:rPr lang="en-GB" sz="1700" dirty="0">
                <a:latin typeface="Abadi" panose="020B0604020104020204" pitchFamily="34" charset="0"/>
              </a:rPr>
              <a:t>The </a:t>
            </a:r>
            <a:r>
              <a:rPr lang="en-GB" sz="1700" b="1" dirty="0">
                <a:latin typeface="Abadi" panose="020B0604020104020204" pitchFamily="34" charset="0"/>
              </a:rPr>
              <a:t>Shallow CNN</a:t>
            </a:r>
            <a:r>
              <a:rPr lang="en-GB" sz="1700" dirty="0">
                <a:latin typeface="Abadi" panose="020B0604020104020204" pitchFamily="34" charset="0"/>
              </a:rPr>
              <a:t> uses </a:t>
            </a:r>
            <a:r>
              <a:rPr lang="en-GB" sz="1700" b="1" dirty="0">
                <a:latin typeface="Abadi" panose="020B0604020104020204" pitchFamily="34" charset="0"/>
              </a:rPr>
              <a:t>2 convolutional layers</a:t>
            </a:r>
            <a:r>
              <a:rPr lang="en-GB" sz="1700" dirty="0">
                <a:latin typeface="Abadi" panose="020B0604020104020204" pitchFamily="34" charset="0"/>
              </a:rPr>
              <a:t> to learn basic visual features, the </a:t>
            </a:r>
            <a:r>
              <a:rPr lang="en-GB" sz="1700" b="1" dirty="0">
                <a:latin typeface="Abadi" panose="020B0604020104020204" pitchFamily="34" charset="0"/>
              </a:rPr>
              <a:t>Medium CNN</a:t>
            </a:r>
            <a:r>
              <a:rPr lang="en-GB" sz="1700" dirty="0">
                <a:latin typeface="Abadi" panose="020B0604020104020204" pitchFamily="34" charset="0"/>
              </a:rPr>
              <a:t> uses </a:t>
            </a:r>
            <a:r>
              <a:rPr lang="en-GB" sz="1700" b="1" dirty="0">
                <a:latin typeface="Abadi" panose="020B0604020104020204" pitchFamily="34" charset="0"/>
              </a:rPr>
              <a:t>4 convolutional layers</a:t>
            </a:r>
            <a:r>
              <a:rPr lang="en-GB" sz="1700" dirty="0">
                <a:latin typeface="Abadi" panose="020B0604020104020204" pitchFamily="34" charset="0"/>
              </a:rPr>
              <a:t> to capture more detailed patterns, while the </a:t>
            </a:r>
            <a:r>
              <a:rPr lang="en-GB" sz="1700" b="1" dirty="0">
                <a:latin typeface="Abadi" panose="020B0604020104020204" pitchFamily="34" charset="0"/>
              </a:rPr>
              <a:t>Deep CNN</a:t>
            </a:r>
            <a:r>
              <a:rPr lang="en-GB" sz="1700" dirty="0">
                <a:latin typeface="Abadi" panose="020B0604020104020204" pitchFamily="34" charset="0"/>
              </a:rPr>
              <a:t> uses </a:t>
            </a:r>
            <a:r>
              <a:rPr lang="en-GB" sz="1700" b="1" dirty="0">
                <a:latin typeface="Abadi" panose="020B0604020104020204" pitchFamily="34" charset="0"/>
              </a:rPr>
              <a:t>6 convolutional layers and Dropout regularization</a:t>
            </a:r>
            <a:r>
              <a:rPr lang="en-GB" sz="1700" dirty="0">
                <a:latin typeface="Abadi" panose="020B0604020104020204" pitchFamily="34" charset="0"/>
              </a:rPr>
              <a:t> to learn complex hierarchical features and improve generalization.</a:t>
            </a:r>
          </a:p>
          <a:p>
            <a:r>
              <a:rPr lang="en-GB" sz="1700" dirty="0">
                <a:latin typeface="Abadi" panose="020B0604020104020204" pitchFamily="34" charset="0"/>
              </a:rPr>
              <a:t>Used </a:t>
            </a:r>
            <a:r>
              <a:rPr lang="en-GB" sz="1700" b="1" dirty="0">
                <a:latin typeface="Abadi" panose="020B0604020104020204" pitchFamily="34" charset="0"/>
              </a:rPr>
              <a:t>Convolutional Layers</a:t>
            </a:r>
            <a:r>
              <a:rPr lang="en-GB" sz="1700" dirty="0">
                <a:latin typeface="Abadi" panose="020B0604020104020204" pitchFamily="34" charset="0"/>
              </a:rPr>
              <a:t> to automatically extract important image features such as edges, textures, and shapes. </a:t>
            </a:r>
          </a:p>
          <a:p>
            <a:r>
              <a:rPr lang="en-GB" sz="1700" dirty="0">
                <a:latin typeface="Abadi" panose="020B0604020104020204" pitchFamily="34" charset="0"/>
              </a:rPr>
              <a:t>Applied </a:t>
            </a:r>
            <a:r>
              <a:rPr lang="en-GB" sz="1700" b="1" dirty="0">
                <a:latin typeface="Abadi" panose="020B0604020104020204" pitchFamily="34" charset="0"/>
              </a:rPr>
              <a:t>ReLU activation functions</a:t>
            </a:r>
            <a:r>
              <a:rPr lang="en-GB" sz="1700" dirty="0">
                <a:latin typeface="Abadi" panose="020B0604020104020204" pitchFamily="34" charset="0"/>
              </a:rPr>
              <a:t> to introduce non-linearity and help the model learn complex patterns. </a:t>
            </a:r>
          </a:p>
          <a:p>
            <a:r>
              <a:rPr lang="en-GB" sz="1700" dirty="0">
                <a:latin typeface="Abadi" panose="020B0604020104020204" pitchFamily="34" charset="0"/>
              </a:rPr>
              <a:t>Used </a:t>
            </a:r>
            <a:r>
              <a:rPr lang="en-GB" sz="1700" b="1" dirty="0">
                <a:latin typeface="Abadi" panose="020B0604020104020204" pitchFamily="34" charset="0"/>
              </a:rPr>
              <a:t>MaxPooling layers</a:t>
            </a:r>
            <a:r>
              <a:rPr lang="en-GB" sz="1700" dirty="0">
                <a:latin typeface="Abadi" panose="020B0604020104020204" pitchFamily="34" charset="0"/>
              </a:rPr>
              <a:t> to reduce image dimensions and improve computational efficiency. </a:t>
            </a:r>
          </a:p>
          <a:p>
            <a:r>
              <a:rPr lang="en-GB" sz="1700" dirty="0">
                <a:latin typeface="Abadi" panose="020B0604020104020204" pitchFamily="34" charset="0"/>
              </a:rPr>
              <a:t>Added </a:t>
            </a:r>
            <a:r>
              <a:rPr lang="en-GB" sz="1700" b="1" dirty="0">
                <a:latin typeface="Abadi" panose="020B0604020104020204" pitchFamily="34" charset="0"/>
              </a:rPr>
              <a:t>Fully Connected layers</a:t>
            </a:r>
            <a:r>
              <a:rPr lang="en-GB" sz="1700" dirty="0">
                <a:latin typeface="Abadi" panose="020B0604020104020204" pitchFamily="34" charset="0"/>
              </a:rPr>
              <a:t> to perform final image classification into 10 CIFAR-10 classes. </a:t>
            </a:r>
          </a:p>
          <a:p>
            <a:pPr marL="0" indent="0">
              <a:buNone/>
            </a:pPr>
            <a:endParaRPr lang="en-GB" sz="1800" dirty="0"/>
          </a:p>
        </p:txBody>
      </p:sp>
      <p:pic>
        <p:nvPicPr>
          <p:cNvPr id="4096" name="Picture 4095">
            <a:extLst>
              <a:ext uri="{FF2B5EF4-FFF2-40B4-BE49-F238E27FC236}">
                <a16:creationId xmlns:a16="http://schemas.microsoft.com/office/drawing/2014/main" id="{491A2E13-F590-2896-BBD6-87B38A68F760}"/>
              </a:ext>
            </a:extLst>
          </p:cNvPr>
          <p:cNvPicPr>
            <a:picLocks noChangeAspect="1"/>
          </p:cNvPicPr>
          <p:nvPr/>
        </p:nvPicPr>
        <p:blipFill>
          <a:blip r:embed="rId3"/>
          <a:srcRect r="20361" b="4"/>
          <a:stretch>
            <a:fillRect/>
          </a:stretch>
        </p:blipFill>
        <p:spPr>
          <a:xfrm>
            <a:off x="381000" y="2872785"/>
            <a:ext cx="4114800" cy="2906223"/>
          </a:xfrm>
          <a:prstGeom prst="rect">
            <a:avLst/>
          </a:prstGeom>
        </p:spPr>
      </p:pic>
      <p:sp>
        <p:nvSpPr>
          <p:cNvPr id="4195" name="Rectangle 4194">
            <a:extLst>
              <a:ext uri="{FF2B5EF4-FFF2-40B4-BE49-F238E27FC236}">
                <a16:creationId xmlns:a16="http://schemas.microsoft.com/office/drawing/2014/main" id="{21B3977D-00DD-E3F0-9E7E-2330CBFD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7305572"/>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Freeform: Shape 35">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Freeform: Shape 37">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96A62E-062C-F01F-5B49-5D6184181A65}"/>
              </a:ext>
            </a:extLst>
          </p:cNvPr>
          <p:cNvSpPr>
            <a:spLocks noGrp="1"/>
          </p:cNvSpPr>
          <p:nvPr>
            <p:ph type="title"/>
          </p:nvPr>
        </p:nvSpPr>
        <p:spPr>
          <a:xfrm>
            <a:off x="838200" y="253397"/>
            <a:ext cx="10515600" cy="1273233"/>
          </a:xfrm>
        </p:spPr>
        <p:txBody>
          <a:bodyPr>
            <a:normAutofit/>
          </a:bodyPr>
          <a:lstStyle/>
          <a:p>
            <a:r>
              <a:rPr lang="en-GB" b="1" dirty="0">
                <a:latin typeface="Abadi" panose="020B0604020104020204" pitchFamily="34" charset="0"/>
              </a:rPr>
              <a:t>MODEL TRAINING</a:t>
            </a:r>
          </a:p>
        </p:txBody>
      </p:sp>
      <p:sp>
        <p:nvSpPr>
          <p:cNvPr id="40" name="Rectangle 39">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CAB3F09-4BD7-F5ED-07D8-C0448BF819F1}"/>
              </a:ext>
            </a:extLst>
          </p:cNvPr>
          <p:cNvSpPr>
            <a:spLocks noGrp="1"/>
          </p:cNvSpPr>
          <p:nvPr>
            <p:ph idx="1"/>
          </p:nvPr>
        </p:nvSpPr>
        <p:spPr>
          <a:xfrm>
            <a:off x="838200" y="2139696"/>
            <a:ext cx="10515600" cy="4032504"/>
          </a:xfrm>
        </p:spPr>
        <p:txBody>
          <a:bodyPr>
            <a:normAutofit/>
          </a:bodyPr>
          <a:lstStyle/>
          <a:p>
            <a:pPr>
              <a:lnSpc>
                <a:spcPct val="100000"/>
              </a:lnSpc>
            </a:pPr>
            <a:r>
              <a:rPr lang="en-GB" sz="1800" b="1" dirty="0">
                <a:latin typeface="Abadi" panose="020B0604020104020204" pitchFamily="34" charset="0"/>
              </a:rPr>
              <a:t>Adam Optimizer</a:t>
            </a:r>
            <a:r>
              <a:rPr lang="en-GB" sz="1800" dirty="0">
                <a:latin typeface="Abadi" panose="020B0604020104020204" pitchFamily="34" charset="0"/>
              </a:rPr>
              <a:t> was employed to efficiently update network parameters and accelerate convergence during training. </a:t>
            </a:r>
          </a:p>
          <a:p>
            <a:pPr>
              <a:lnSpc>
                <a:spcPct val="100000"/>
              </a:lnSpc>
            </a:pPr>
            <a:r>
              <a:rPr lang="en-GB" sz="1800" b="1" dirty="0">
                <a:latin typeface="Abadi" panose="020B0604020104020204" pitchFamily="34" charset="0"/>
              </a:rPr>
              <a:t>Cross-Entropy Loss</a:t>
            </a:r>
            <a:r>
              <a:rPr lang="en-GB" sz="1800" dirty="0">
                <a:latin typeface="Abadi" panose="020B0604020104020204" pitchFamily="34" charset="0"/>
              </a:rPr>
              <a:t> was used to quantify classification errors and guide the optimization process for multi-class image recognition. </a:t>
            </a:r>
          </a:p>
          <a:p>
            <a:pPr>
              <a:lnSpc>
                <a:spcPct val="100000"/>
              </a:lnSpc>
            </a:pPr>
            <a:r>
              <a:rPr lang="en-GB" sz="1800" b="1" dirty="0">
                <a:latin typeface="Abadi" panose="020B0604020104020204" pitchFamily="34" charset="0"/>
              </a:rPr>
              <a:t>Ten training epochs</a:t>
            </a:r>
            <a:r>
              <a:rPr lang="en-GB" sz="1800" dirty="0">
                <a:latin typeface="Abadi" panose="020B0604020104020204" pitchFamily="34" charset="0"/>
              </a:rPr>
              <a:t> were performed to enable the models to progressively learn hierarchical image features from the dataset. </a:t>
            </a:r>
          </a:p>
          <a:p>
            <a:pPr>
              <a:lnSpc>
                <a:spcPct val="100000"/>
              </a:lnSpc>
            </a:pPr>
            <a:r>
              <a:rPr lang="en-GB" sz="1800" b="1" dirty="0">
                <a:latin typeface="Abadi" panose="020B0604020104020204" pitchFamily="34" charset="0"/>
              </a:rPr>
              <a:t>Forward propagation</a:t>
            </a:r>
            <a:r>
              <a:rPr lang="en-GB" sz="1800" dirty="0">
                <a:latin typeface="Abadi" panose="020B0604020104020204" pitchFamily="34" charset="0"/>
              </a:rPr>
              <a:t> was used to generate class predictions from input images at each training iteration. </a:t>
            </a:r>
          </a:p>
          <a:p>
            <a:pPr>
              <a:lnSpc>
                <a:spcPct val="100000"/>
              </a:lnSpc>
            </a:pPr>
            <a:r>
              <a:rPr lang="en-GB" sz="1800" b="1" dirty="0">
                <a:latin typeface="Abadi" panose="020B0604020104020204" pitchFamily="34" charset="0"/>
              </a:rPr>
              <a:t>Backpropagation</a:t>
            </a:r>
            <a:r>
              <a:rPr lang="en-GB" sz="1800" dirty="0">
                <a:latin typeface="Abadi" panose="020B0604020104020204" pitchFamily="34" charset="0"/>
              </a:rPr>
              <a:t> was applied to compute gradients and optimize network weights by minimizing prediction errors. </a:t>
            </a:r>
          </a:p>
          <a:p>
            <a:pPr>
              <a:lnSpc>
                <a:spcPct val="100000"/>
              </a:lnSpc>
            </a:pPr>
            <a:r>
              <a:rPr lang="en-GB" sz="1800" b="1" dirty="0">
                <a:latin typeface="Abadi" panose="020B0604020104020204" pitchFamily="34" charset="0"/>
              </a:rPr>
              <a:t>Training accuracy and loss metrics</a:t>
            </a:r>
            <a:r>
              <a:rPr lang="en-GB" sz="1800" dirty="0">
                <a:latin typeface="Abadi" panose="020B0604020104020204" pitchFamily="34" charset="0"/>
              </a:rPr>
              <a:t> were monitored throughout training to evaluate learning effectiveness and model convergence. </a:t>
            </a:r>
          </a:p>
          <a:p>
            <a:pPr>
              <a:lnSpc>
                <a:spcPct val="100000"/>
              </a:lnSpc>
            </a:pPr>
            <a:endParaRPr lang="en-GB" sz="1700" dirty="0"/>
          </a:p>
        </p:txBody>
      </p:sp>
      <p:sp>
        <p:nvSpPr>
          <p:cNvPr id="4" name="AutoShape 2" descr="Business Training Logo Business Training Logo Images Free Download">
            <a:extLst>
              <a:ext uri="{FF2B5EF4-FFF2-40B4-BE49-F238E27FC236}">
                <a16:creationId xmlns:a16="http://schemas.microsoft.com/office/drawing/2014/main" id="{FF1473B5-427E-AE88-618C-2E9E1BB81A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682993645"/>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8" name="Rectangle 77">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 name="Rectangle 8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4" name="Rectangle 8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2E26A3-7B64-F637-6A96-62487FA41C32}"/>
              </a:ext>
            </a:extLst>
          </p:cNvPr>
          <p:cNvSpPr>
            <a:spLocks noGrp="1"/>
          </p:cNvSpPr>
          <p:nvPr>
            <p:ph type="title"/>
          </p:nvPr>
        </p:nvSpPr>
        <p:spPr>
          <a:xfrm>
            <a:off x="841246" y="978619"/>
            <a:ext cx="5991244" cy="704088"/>
          </a:xfrm>
        </p:spPr>
        <p:txBody>
          <a:bodyPr vert="horz" lIns="91440" tIns="45720" rIns="91440" bIns="45720" rtlCol="0" anchor="ctr">
            <a:normAutofit/>
          </a:bodyPr>
          <a:lstStyle/>
          <a:p>
            <a:pPr>
              <a:lnSpc>
                <a:spcPct val="90000"/>
              </a:lnSpc>
            </a:pPr>
            <a:r>
              <a:rPr lang="en-US" sz="3200" b="1" dirty="0">
                <a:latin typeface="Abadi" panose="020B0604020104020204" pitchFamily="34" charset="0"/>
              </a:rPr>
              <a:t>Training Accuracy Comparison</a:t>
            </a:r>
          </a:p>
        </p:txBody>
      </p:sp>
      <p:sp>
        <p:nvSpPr>
          <p:cNvPr id="86" name="Rectangle 8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EBD4F081-BA70-194A-9C27-502218E640CA}"/>
              </a:ext>
            </a:extLst>
          </p:cNvPr>
          <p:cNvSpPr>
            <a:spLocks noGrp="1"/>
          </p:cNvSpPr>
          <p:nvPr>
            <p:ph type="body" sz="half" idx="2"/>
          </p:nvPr>
        </p:nvSpPr>
        <p:spPr>
          <a:xfrm>
            <a:off x="841248" y="2178290"/>
            <a:ext cx="5993892" cy="3932966"/>
          </a:xfrm>
        </p:spPr>
        <p:txBody>
          <a:bodyPr vert="horz" lIns="91440" tIns="45720" rIns="91440" bIns="45720" rtlCol="0">
            <a:normAutofit lnSpcReduction="10000"/>
          </a:bodyPr>
          <a:lstStyle/>
          <a:p>
            <a:pPr indent="-228600">
              <a:lnSpc>
                <a:spcPct val="100000"/>
              </a:lnSpc>
              <a:buFont typeface="Arial" panose="020B0604020202020204" pitchFamily="34" charset="0"/>
              <a:buChar char="•"/>
            </a:pPr>
            <a:r>
              <a:rPr lang="en-US" sz="1600" dirty="0">
                <a:latin typeface="Abadi" panose="020B0604020104020204" pitchFamily="34" charset="0"/>
              </a:rPr>
              <a:t>All CNN models showed a steady increase in training accuracy, indicating successful learning and convergence. </a:t>
            </a:r>
          </a:p>
          <a:p>
            <a:pPr indent="-228600">
              <a:lnSpc>
                <a:spcPct val="100000"/>
              </a:lnSpc>
              <a:buFont typeface="Arial" panose="020B0604020202020204" pitchFamily="34" charset="0"/>
              <a:buChar char="•"/>
            </a:pPr>
            <a:r>
              <a:rPr lang="en-US" sz="1600" dirty="0">
                <a:latin typeface="Abadi" panose="020B0604020104020204" pitchFamily="34" charset="0"/>
              </a:rPr>
              <a:t>The </a:t>
            </a:r>
            <a:r>
              <a:rPr lang="en-US" sz="1600" b="1" dirty="0">
                <a:latin typeface="Abadi" panose="020B0604020104020204" pitchFamily="34" charset="0"/>
              </a:rPr>
              <a:t>Medium CNN achieved the highest training accuracy (96.49%)</a:t>
            </a:r>
            <a:r>
              <a:rPr lang="en-US" sz="1600" dirty="0">
                <a:latin typeface="Abadi" panose="020B0604020104020204" pitchFamily="34" charset="0"/>
              </a:rPr>
              <a:t>, as it provided the optimal balance between network complexity and feature learning capability. </a:t>
            </a:r>
          </a:p>
          <a:p>
            <a:pPr indent="-228600">
              <a:lnSpc>
                <a:spcPct val="100000"/>
              </a:lnSpc>
              <a:buFont typeface="Arial" panose="020B0604020202020204" pitchFamily="34" charset="0"/>
              <a:buChar char="•"/>
            </a:pPr>
            <a:r>
              <a:rPr lang="en-US" sz="1600" dirty="0">
                <a:latin typeface="Abadi" panose="020B0604020104020204" pitchFamily="34" charset="0"/>
              </a:rPr>
              <a:t>The </a:t>
            </a:r>
            <a:r>
              <a:rPr lang="en-US" sz="1600" b="1" dirty="0">
                <a:latin typeface="Abadi" panose="020B0604020104020204" pitchFamily="34" charset="0"/>
              </a:rPr>
              <a:t>Shallow CNN achieved 93.58%</a:t>
            </a:r>
            <a:r>
              <a:rPr lang="en-US" sz="1600" dirty="0">
                <a:latin typeface="Abadi" panose="020B0604020104020204" pitchFamily="34" charset="0"/>
              </a:rPr>
              <a:t>, but its limited depth restricted its ability to learn complex image features. </a:t>
            </a:r>
          </a:p>
          <a:p>
            <a:pPr indent="-228600">
              <a:lnSpc>
                <a:spcPct val="100000"/>
              </a:lnSpc>
              <a:buFont typeface="Arial" panose="020B0604020202020204" pitchFamily="34" charset="0"/>
              <a:buChar char="•"/>
            </a:pPr>
            <a:r>
              <a:rPr lang="en-US" sz="1600" dirty="0">
                <a:latin typeface="Abadi" panose="020B0604020104020204" pitchFamily="34" charset="0"/>
              </a:rPr>
              <a:t>The </a:t>
            </a:r>
            <a:r>
              <a:rPr lang="en-US" sz="1600" b="1" dirty="0">
                <a:latin typeface="Abadi" panose="020B0604020104020204" pitchFamily="34" charset="0"/>
              </a:rPr>
              <a:t>Deep CNN achieved 87.18%</a:t>
            </a:r>
            <a:r>
              <a:rPr lang="en-US" sz="1600" dirty="0">
                <a:latin typeface="Abadi" panose="020B0604020104020204" pitchFamily="34" charset="0"/>
              </a:rPr>
              <a:t>, as its higher complexity and dropout regularization resulted in slower convergence during training. </a:t>
            </a:r>
          </a:p>
          <a:p>
            <a:pPr>
              <a:lnSpc>
                <a:spcPct val="100000"/>
              </a:lnSpc>
            </a:pPr>
            <a:r>
              <a:rPr lang="en-US" sz="1600" b="1" dirty="0">
                <a:latin typeface="Abadi" panose="020B0604020104020204" pitchFamily="34" charset="0"/>
              </a:rPr>
              <a:t>Key Finding</a:t>
            </a:r>
          </a:p>
          <a:p>
            <a:pPr indent="-228600">
              <a:lnSpc>
                <a:spcPct val="100000"/>
              </a:lnSpc>
              <a:buFont typeface="Arial" panose="020B0604020202020204" pitchFamily="34" charset="0"/>
              <a:buChar char="•"/>
            </a:pPr>
            <a:r>
              <a:rPr lang="en-US" sz="1600" dirty="0">
                <a:latin typeface="Abadi" panose="020B0604020104020204" pitchFamily="34" charset="0"/>
              </a:rPr>
              <a:t>The Medium CNN demonstrated the most effective learning of the CIFAR-10 training data, achieving the highest training accuracy among all models</a:t>
            </a:r>
            <a:r>
              <a:rPr lang="en-US" sz="1600" b="1" dirty="0">
                <a:latin typeface="Abadi" panose="020B0604020104020204" pitchFamily="34" charset="0"/>
              </a:rPr>
              <a:t>.</a:t>
            </a:r>
            <a:endParaRPr lang="en-US" sz="1600" dirty="0">
              <a:latin typeface="Abadi" panose="020B0604020104020204" pitchFamily="34" charset="0"/>
            </a:endParaRPr>
          </a:p>
          <a:p>
            <a:pPr indent="-228600">
              <a:lnSpc>
                <a:spcPct val="100000"/>
              </a:lnSpc>
              <a:buFont typeface="Arial" panose="020B0604020202020204" pitchFamily="34" charset="0"/>
              <a:buChar char="•"/>
            </a:pPr>
            <a:endParaRPr lang="en-US" sz="1400" dirty="0"/>
          </a:p>
        </p:txBody>
      </p:sp>
      <p:pic>
        <p:nvPicPr>
          <p:cNvPr id="6" name="Picture Placeholder 5">
            <a:extLst>
              <a:ext uri="{FF2B5EF4-FFF2-40B4-BE49-F238E27FC236}">
                <a16:creationId xmlns:a16="http://schemas.microsoft.com/office/drawing/2014/main" id="{D40C0B9E-960A-8D9E-796C-4FCC457297DB}"/>
              </a:ext>
            </a:extLst>
          </p:cNvPr>
          <p:cNvPicPr>
            <a:picLocks noGrp="1" noChangeAspect="1"/>
          </p:cNvPicPr>
          <p:nvPr>
            <p:ph type="pic" idx="1"/>
          </p:nvPr>
        </p:nvPicPr>
        <p:blipFill>
          <a:blip r:embed="rId3"/>
          <a:srcRect r="9498" b="2"/>
          <a:stretch>
            <a:fillRect/>
          </a:stretch>
        </p:blipFill>
        <p:spPr>
          <a:xfrm>
            <a:off x="7396778" y="1907236"/>
            <a:ext cx="4477512" cy="3759046"/>
          </a:xfrm>
          <a:prstGeom prst="rect">
            <a:avLst/>
          </a:prstGeom>
        </p:spPr>
      </p:pic>
    </p:spTree>
    <p:extLst>
      <p:ext uri="{BB962C8B-B14F-4D97-AF65-F5344CB8AC3E}">
        <p14:creationId xmlns:p14="http://schemas.microsoft.com/office/powerpoint/2010/main" val="2624199236"/>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Rectangle 31">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Rectangle 35">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B6F94DD-A5AC-E1BE-C78B-276E2D18BAC9}"/>
              </a:ext>
            </a:extLst>
          </p:cNvPr>
          <p:cNvSpPr>
            <a:spLocks noGrp="1"/>
          </p:cNvSpPr>
          <p:nvPr>
            <p:ph type="title"/>
          </p:nvPr>
        </p:nvSpPr>
        <p:spPr>
          <a:xfrm>
            <a:off x="841246" y="978620"/>
            <a:ext cx="5991244" cy="704088"/>
          </a:xfrm>
        </p:spPr>
        <p:txBody>
          <a:bodyPr vert="horz" lIns="91440" tIns="45720" rIns="91440" bIns="45720" rtlCol="0" anchor="ctr">
            <a:normAutofit/>
          </a:bodyPr>
          <a:lstStyle/>
          <a:p>
            <a:pPr>
              <a:lnSpc>
                <a:spcPct val="90000"/>
              </a:lnSpc>
            </a:pPr>
            <a:r>
              <a:rPr lang="en-US" sz="3200" b="1" dirty="0">
                <a:latin typeface="Abadi" panose="020B0604020104020204" pitchFamily="34" charset="0"/>
              </a:rPr>
              <a:t>Training Loss Comparison</a:t>
            </a:r>
            <a:endParaRPr lang="en-US" sz="3200" dirty="0">
              <a:latin typeface="Abadi" panose="020B0604020104020204" pitchFamily="34" charset="0"/>
            </a:endParaRPr>
          </a:p>
        </p:txBody>
      </p:sp>
      <p:sp>
        <p:nvSpPr>
          <p:cNvPr id="40" name="Rectangle 39">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EFF07AC6-DD7B-0DE9-02D5-D006208496D6}"/>
              </a:ext>
            </a:extLst>
          </p:cNvPr>
          <p:cNvSpPr>
            <a:spLocks noGrp="1"/>
          </p:cNvSpPr>
          <p:nvPr>
            <p:ph type="body" sz="half" idx="2"/>
          </p:nvPr>
        </p:nvSpPr>
        <p:spPr>
          <a:xfrm>
            <a:off x="841248" y="2178290"/>
            <a:ext cx="6129178" cy="3951254"/>
          </a:xfrm>
        </p:spPr>
        <p:txBody>
          <a:bodyPr vert="horz" lIns="91440" tIns="45720" rIns="91440" bIns="45720" rtlCol="0">
            <a:normAutofit lnSpcReduction="10000"/>
          </a:bodyPr>
          <a:lstStyle/>
          <a:p>
            <a:pPr indent="-228600">
              <a:lnSpc>
                <a:spcPct val="100000"/>
              </a:lnSpc>
              <a:buFont typeface="Arial" panose="020B0604020202020204" pitchFamily="34" charset="0"/>
              <a:buChar char="•"/>
            </a:pPr>
            <a:r>
              <a:rPr lang="en-US" sz="1700" dirty="0">
                <a:latin typeface="Abadi" panose="020B0604020104020204" pitchFamily="34" charset="0"/>
              </a:rPr>
              <a:t>All CNN models showed a consistent decrease in training loss, indicating effective learning and optimization. </a:t>
            </a:r>
          </a:p>
          <a:p>
            <a:pPr indent="-228600">
              <a:lnSpc>
                <a:spcPct val="100000"/>
              </a:lnSpc>
              <a:buFont typeface="Arial" panose="020B0604020202020204" pitchFamily="34" charset="0"/>
              <a:buChar char="•"/>
            </a:pPr>
            <a:r>
              <a:rPr lang="en-US" sz="1700" dirty="0">
                <a:latin typeface="Abadi" panose="020B0604020104020204" pitchFamily="34" charset="0"/>
              </a:rPr>
              <a:t>The </a:t>
            </a:r>
            <a:r>
              <a:rPr lang="en-US" sz="1700" b="1" dirty="0">
                <a:latin typeface="Abadi" panose="020B0604020104020204" pitchFamily="34" charset="0"/>
              </a:rPr>
              <a:t>Medium CNN achieved the lowest final loss (0.0985)</a:t>
            </a:r>
            <a:r>
              <a:rPr lang="en-US" sz="1700" dirty="0">
                <a:latin typeface="Abadi" panose="020B0604020104020204" pitchFamily="34" charset="0"/>
              </a:rPr>
              <a:t>, demonstrating the most efficient learning process. </a:t>
            </a:r>
          </a:p>
          <a:p>
            <a:pPr indent="-228600">
              <a:lnSpc>
                <a:spcPct val="100000"/>
              </a:lnSpc>
              <a:buFont typeface="Arial" panose="020B0604020202020204" pitchFamily="34" charset="0"/>
              <a:buChar char="•"/>
            </a:pPr>
            <a:r>
              <a:rPr lang="en-US" sz="1700" dirty="0">
                <a:latin typeface="Abadi" panose="020B0604020104020204" pitchFamily="34" charset="0"/>
              </a:rPr>
              <a:t>The </a:t>
            </a:r>
            <a:r>
              <a:rPr lang="en-US" sz="1700" b="1" dirty="0">
                <a:latin typeface="Abadi" panose="020B0604020104020204" pitchFamily="34" charset="0"/>
              </a:rPr>
              <a:t>Shallow CNN reached a final loss of 0.1864</a:t>
            </a:r>
            <a:r>
              <a:rPr lang="en-US" sz="1700" dirty="0">
                <a:latin typeface="Abadi" panose="020B0604020104020204" pitchFamily="34" charset="0"/>
              </a:rPr>
              <a:t>, but its limited depth restricted its ability to learn complex features. </a:t>
            </a:r>
          </a:p>
          <a:p>
            <a:pPr indent="-228600">
              <a:lnSpc>
                <a:spcPct val="100000"/>
              </a:lnSpc>
              <a:buFont typeface="Arial" panose="020B0604020202020204" pitchFamily="34" charset="0"/>
              <a:buChar char="•"/>
            </a:pPr>
            <a:r>
              <a:rPr lang="en-US" sz="1700" dirty="0">
                <a:latin typeface="Abadi" panose="020B0604020104020204" pitchFamily="34" charset="0"/>
              </a:rPr>
              <a:t>The </a:t>
            </a:r>
            <a:r>
              <a:rPr lang="en-US" sz="1700" b="1" dirty="0">
                <a:latin typeface="Abadi" panose="020B0604020104020204" pitchFamily="34" charset="0"/>
              </a:rPr>
              <a:t>Deep CNN had the highest final loss (0.3621)</a:t>
            </a:r>
            <a:r>
              <a:rPr lang="en-US" sz="1700" dirty="0">
                <a:latin typeface="Abadi" panose="020B0604020104020204" pitchFamily="34" charset="0"/>
              </a:rPr>
              <a:t>, as its greater complexity and dropout regularization resulted in slower convergence during training. </a:t>
            </a:r>
          </a:p>
          <a:p>
            <a:pPr>
              <a:lnSpc>
                <a:spcPct val="100000"/>
              </a:lnSpc>
            </a:pPr>
            <a:r>
              <a:rPr lang="en-US" sz="1700" b="1" dirty="0">
                <a:latin typeface="Abadi" panose="020B0604020104020204" pitchFamily="34" charset="0"/>
              </a:rPr>
              <a:t>Key Finding</a:t>
            </a:r>
          </a:p>
          <a:p>
            <a:pPr indent="-228600">
              <a:lnSpc>
                <a:spcPct val="100000"/>
              </a:lnSpc>
              <a:buFont typeface="Arial" panose="020B0604020202020204" pitchFamily="34" charset="0"/>
              <a:buChar char="•"/>
            </a:pPr>
            <a:r>
              <a:rPr lang="en-US" sz="1700" dirty="0">
                <a:latin typeface="Abadi" panose="020B0604020104020204" pitchFamily="34" charset="0"/>
              </a:rPr>
              <a:t>The Medium CNN achieved the lowest training loss, indicating the most effective optimization and learning performance among all models.</a:t>
            </a:r>
          </a:p>
          <a:p>
            <a:pPr indent="-228600">
              <a:lnSpc>
                <a:spcPct val="100000"/>
              </a:lnSpc>
              <a:buFont typeface="Arial" panose="020B0604020202020204" pitchFamily="34" charset="0"/>
              <a:buChar char="•"/>
            </a:pPr>
            <a:endParaRPr lang="en-US" sz="1400" dirty="0"/>
          </a:p>
        </p:txBody>
      </p:sp>
      <p:pic>
        <p:nvPicPr>
          <p:cNvPr id="6" name="Picture Placeholder 5">
            <a:extLst>
              <a:ext uri="{FF2B5EF4-FFF2-40B4-BE49-F238E27FC236}">
                <a16:creationId xmlns:a16="http://schemas.microsoft.com/office/drawing/2014/main" id="{3A7B3C78-D81F-2F82-0772-25A3E513A836}"/>
              </a:ext>
            </a:extLst>
          </p:cNvPr>
          <p:cNvPicPr>
            <a:picLocks noGrp="1" noChangeAspect="1"/>
          </p:cNvPicPr>
          <p:nvPr>
            <p:ph type="pic" idx="1"/>
          </p:nvPr>
        </p:nvPicPr>
        <p:blipFill>
          <a:blip r:embed="rId3"/>
          <a:srcRect l="3164" r="3164"/>
          <a:stretch/>
        </p:blipFill>
        <p:spPr>
          <a:xfrm>
            <a:off x="7438310" y="1962472"/>
            <a:ext cx="4435980" cy="3763771"/>
          </a:xfrm>
          <a:prstGeom prst="rect">
            <a:avLst/>
          </a:prstGeom>
        </p:spPr>
      </p:pic>
    </p:spTree>
    <p:extLst>
      <p:ext uri="{BB962C8B-B14F-4D97-AF65-F5344CB8AC3E}">
        <p14:creationId xmlns:p14="http://schemas.microsoft.com/office/powerpoint/2010/main" val="94723330"/>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Rectangle 31">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Rectangle 35">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8" name="Rectangle 37">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733896D-BF80-C002-65C3-90F12EA6815F}"/>
              </a:ext>
            </a:extLst>
          </p:cNvPr>
          <p:cNvSpPr>
            <a:spLocks noGrp="1"/>
          </p:cNvSpPr>
          <p:nvPr>
            <p:ph type="title"/>
          </p:nvPr>
        </p:nvSpPr>
        <p:spPr>
          <a:xfrm>
            <a:off x="841246" y="978619"/>
            <a:ext cx="5991244" cy="1106424"/>
          </a:xfrm>
        </p:spPr>
        <p:txBody>
          <a:bodyPr vert="horz" lIns="91440" tIns="45720" rIns="91440" bIns="45720" rtlCol="0" anchor="ctr">
            <a:normAutofit/>
          </a:bodyPr>
          <a:lstStyle/>
          <a:p>
            <a:pPr>
              <a:lnSpc>
                <a:spcPct val="90000"/>
              </a:lnSpc>
            </a:pPr>
            <a:r>
              <a:rPr lang="en-US" sz="3200" b="1" dirty="0">
                <a:latin typeface="Abadi" panose="020B0604020104020204" pitchFamily="34" charset="0"/>
              </a:rPr>
              <a:t>Performance Evaluation</a:t>
            </a:r>
          </a:p>
        </p:txBody>
      </p:sp>
      <p:sp>
        <p:nvSpPr>
          <p:cNvPr id="40" name="Rectangle 39">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42A4F784-090E-071E-2790-E8170F27EC0B}"/>
              </a:ext>
            </a:extLst>
          </p:cNvPr>
          <p:cNvSpPr>
            <a:spLocks noGrp="1"/>
          </p:cNvSpPr>
          <p:nvPr>
            <p:ph type="body" sz="half" idx="2"/>
          </p:nvPr>
        </p:nvSpPr>
        <p:spPr>
          <a:xfrm>
            <a:off x="841248" y="2252870"/>
            <a:ext cx="5993892" cy="3749042"/>
          </a:xfrm>
        </p:spPr>
        <p:txBody>
          <a:bodyPr vert="horz" lIns="91440" tIns="45720" rIns="91440" bIns="45720" rtlCol="0">
            <a:normAutofit fontScale="92500" lnSpcReduction="20000"/>
          </a:bodyPr>
          <a:lstStyle/>
          <a:p>
            <a:pPr indent="-228600">
              <a:lnSpc>
                <a:spcPct val="100000"/>
              </a:lnSpc>
              <a:buFont typeface="Arial" panose="020B0604020202020204" pitchFamily="34" charset="0"/>
              <a:buChar char="•"/>
            </a:pPr>
            <a:r>
              <a:rPr lang="en-US" dirty="0">
                <a:latin typeface="Abadi" panose="020B0604020104020204" pitchFamily="34" charset="0"/>
              </a:rPr>
              <a:t>The </a:t>
            </a:r>
            <a:r>
              <a:rPr lang="en-US" b="1" dirty="0">
                <a:latin typeface="Abadi" panose="020B0604020104020204" pitchFamily="34" charset="0"/>
              </a:rPr>
              <a:t>Deep CNN achieved the highest test accuracy (77.57%)</a:t>
            </a:r>
            <a:r>
              <a:rPr lang="en-US" dirty="0">
                <a:latin typeface="Abadi" panose="020B0604020104020204" pitchFamily="34" charset="0"/>
              </a:rPr>
              <a:t>, demonstrating the strongest generalization performance on unseen data. </a:t>
            </a:r>
          </a:p>
          <a:p>
            <a:pPr indent="-228600">
              <a:lnSpc>
                <a:spcPct val="100000"/>
              </a:lnSpc>
              <a:buFont typeface="Arial" panose="020B0604020202020204" pitchFamily="34" charset="0"/>
              <a:buChar char="•"/>
            </a:pPr>
            <a:r>
              <a:rPr lang="en-US" dirty="0">
                <a:latin typeface="Abadi" panose="020B0604020104020204" pitchFamily="34" charset="0"/>
              </a:rPr>
              <a:t>The </a:t>
            </a:r>
            <a:r>
              <a:rPr lang="en-US" b="1" dirty="0">
                <a:latin typeface="Abadi" panose="020B0604020104020204" pitchFamily="34" charset="0"/>
              </a:rPr>
              <a:t>Medium CNN achieved 75.14% accuracy</a:t>
            </a:r>
            <a:r>
              <a:rPr lang="en-US" dirty="0">
                <a:latin typeface="Abadi" panose="020B0604020104020204" pitchFamily="34" charset="0"/>
              </a:rPr>
              <a:t>, performing well but learning slightly less complex features than the Deep CNN. </a:t>
            </a:r>
          </a:p>
          <a:p>
            <a:pPr indent="-228600">
              <a:lnSpc>
                <a:spcPct val="100000"/>
              </a:lnSpc>
              <a:buFont typeface="Arial" panose="020B0604020202020204" pitchFamily="34" charset="0"/>
              <a:buChar char="•"/>
            </a:pPr>
            <a:r>
              <a:rPr lang="en-US" dirty="0">
                <a:latin typeface="Abadi" panose="020B0604020104020204" pitchFamily="34" charset="0"/>
              </a:rPr>
              <a:t>The </a:t>
            </a:r>
            <a:r>
              <a:rPr lang="en-US" b="1" dirty="0">
                <a:latin typeface="Abadi" panose="020B0604020104020204" pitchFamily="34" charset="0"/>
              </a:rPr>
              <a:t>Shallow CNN achieved 72.67% accuracy</a:t>
            </a:r>
            <a:r>
              <a:rPr lang="en-US" dirty="0">
                <a:latin typeface="Abadi" panose="020B0604020104020204" pitchFamily="34" charset="0"/>
              </a:rPr>
              <a:t>, as its limited depth restricted its ability to capture detailed image patterns. </a:t>
            </a:r>
          </a:p>
          <a:p>
            <a:pPr>
              <a:lnSpc>
                <a:spcPct val="100000"/>
              </a:lnSpc>
            </a:pPr>
            <a:r>
              <a:rPr lang="en-US" b="1" dirty="0">
                <a:latin typeface="Abadi" panose="020B0604020104020204" pitchFamily="34" charset="0"/>
              </a:rPr>
              <a:t>Key Finding</a:t>
            </a:r>
          </a:p>
          <a:p>
            <a:pPr indent="-228600">
              <a:lnSpc>
                <a:spcPct val="100000"/>
              </a:lnSpc>
              <a:buFont typeface="Arial" panose="020B0604020202020204" pitchFamily="34" charset="0"/>
              <a:buChar char="•"/>
            </a:pPr>
            <a:r>
              <a:rPr lang="en-US" dirty="0">
                <a:latin typeface="Abadi" panose="020B0604020104020204" pitchFamily="34" charset="0"/>
              </a:rPr>
              <a:t>The Deep CNN delivered the best overall performance, showing that deeper architectures can learn more discriminative features and improve image classification accuracy.</a:t>
            </a:r>
          </a:p>
          <a:p>
            <a:pPr indent="-228600">
              <a:lnSpc>
                <a:spcPct val="100000"/>
              </a:lnSpc>
              <a:buFont typeface="Arial" panose="020B0604020202020204" pitchFamily="34" charset="0"/>
              <a:buChar char="•"/>
            </a:pPr>
            <a:endParaRPr lang="en-US" sz="1400" dirty="0"/>
          </a:p>
        </p:txBody>
      </p:sp>
      <p:pic>
        <p:nvPicPr>
          <p:cNvPr id="6" name="Picture 5">
            <a:extLst>
              <a:ext uri="{FF2B5EF4-FFF2-40B4-BE49-F238E27FC236}">
                <a16:creationId xmlns:a16="http://schemas.microsoft.com/office/drawing/2014/main" id="{5FDA8DBE-0F72-B389-40FB-3623412F9C34}"/>
              </a:ext>
            </a:extLst>
          </p:cNvPr>
          <p:cNvPicPr>
            <a:picLocks noChangeAspect="1"/>
          </p:cNvPicPr>
          <p:nvPr/>
        </p:nvPicPr>
        <p:blipFill>
          <a:blip r:embed="rId3"/>
          <a:stretch>
            <a:fillRect/>
          </a:stretch>
        </p:blipFill>
        <p:spPr>
          <a:xfrm>
            <a:off x="7462540" y="2031603"/>
            <a:ext cx="4314931" cy="3781518"/>
          </a:xfrm>
          <a:prstGeom prst="rect">
            <a:avLst/>
          </a:prstGeom>
        </p:spPr>
      </p:pic>
    </p:spTree>
    <p:extLst>
      <p:ext uri="{BB962C8B-B14F-4D97-AF65-F5344CB8AC3E}">
        <p14:creationId xmlns:p14="http://schemas.microsoft.com/office/powerpoint/2010/main" val="2643372322"/>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Rectangle 27">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Rectangle 31">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6838569"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DC15B3-F1A6-E6BF-DDBE-0D1960168125}"/>
              </a:ext>
            </a:extLst>
          </p:cNvPr>
          <p:cNvSpPr>
            <a:spLocks noGrp="1"/>
          </p:cNvSpPr>
          <p:nvPr>
            <p:ph type="title"/>
          </p:nvPr>
        </p:nvSpPr>
        <p:spPr>
          <a:xfrm>
            <a:off x="841246" y="978619"/>
            <a:ext cx="5991244" cy="1106424"/>
          </a:xfrm>
        </p:spPr>
        <p:txBody>
          <a:bodyPr vert="horz" lIns="91440" tIns="45720" rIns="91440" bIns="45720" rtlCol="0" anchor="ctr">
            <a:normAutofit/>
          </a:bodyPr>
          <a:lstStyle/>
          <a:p>
            <a:pPr>
              <a:lnSpc>
                <a:spcPct val="90000"/>
              </a:lnSpc>
            </a:pPr>
            <a:r>
              <a:rPr lang="en-US" sz="3200" b="1" dirty="0">
                <a:latin typeface="Abadi" panose="020B0604020104020204" pitchFamily="34" charset="0"/>
              </a:rPr>
              <a:t>Confusion Matrix Analysis</a:t>
            </a:r>
          </a:p>
        </p:txBody>
      </p:sp>
      <p:sp>
        <p:nvSpPr>
          <p:cNvPr id="36" name="Rectangle 35">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8" y="2093976"/>
            <a:ext cx="5846683"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 Placeholder 3">
            <a:extLst>
              <a:ext uri="{FF2B5EF4-FFF2-40B4-BE49-F238E27FC236}">
                <a16:creationId xmlns:a16="http://schemas.microsoft.com/office/drawing/2014/main" id="{FFE6749C-EB4A-4791-0285-E7E68522640F}"/>
              </a:ext>
            </a:extLst>
          </p:cNvPr>
          <p:cNvSpPr>
            <a:spLocks noGrp="1"/>
          </p:cNvSpPr>
          <p:nvPr>
            <p:ph type="body" sz="half" idx="2"/>
          </p:nvPr>
        </p:nvSpPr>
        <p:spPr>
          <a:xfrm>
            <a:off x="841248" y="2252870"/>
            <a:ext cx="5993892" cy="3560251"/>
          </a:xfrm>
        </p:spPr>
        <p:txBody>
          <a:bodyPr vert="horz" lIns="91440" tIns="45720" rIns="91440" bIns="45720" rtlCol="0">
            <a:normAutofit fontScale="85000" lnSpcReduction="20000"/>
          </a:bodyPr>
          <a:lstStyle/>
          <a:p>
            <a:pPr indent="-228600">
              <a:lnSpc>
                <a:spcPct val="100000"/>
              </a:lnSpc>
              <a:buFont typeface="Arial" panose="020B0604020202020204" pitchFamily="34" charset="0"/>
              <a:buChar char="•"/>
            </a:pPr>
            <a:r>
              <a:rPr lang="en-US" sz="1900" dirty="0">
                <a:latin typeface="Abadi" panose="020B0604020104020204" pitchFamily="34" charset="0"/>
              </a:rPr>
              <a:t>The confusion matrix illustrates the class-wise prediction performance of the </a:t>
            </a:r>
            <a:r>
              <a:rPr lang="en-US" sz="1900" b="1" dirty="0">
                <a:latin typeface="Abadi" panose="020B0604020104020204" pitchFamily="34" charset="0"/>
              </a:rPr>
              <a:t>Deep CNN</a:t>
            </a:r>
            <a:r>
              <a:rPr lang="en-US" sz="1900" dirty="0">
                <a:latin typeface="Abadi" panose="020B0604020104020204" pitchFamily="34" charset="0"/>
              </a:rPr>
              <a:t> on the CIFAR-10 test dataset. </a:t>
            </a:r>
          </a:p>
          <a:p>
            <a:pPr indent="-228600">
              <a:lnSpc>
                <a:spcPct val="100000"/>
              </a:lnSpc>
              <a:buFont typeface="Arial" panose="020B0604020202020204" pitchFamily="34" charset="0"/>
              <a:buChar char="•"/>
            </a:pPr>
            <a:r>
              <a:rPr lang="en-US" sz="1900" dirty="0">
                <a:latin typeface="Abadi" panose="020B0604020104020204" pitchFamily="34" charset="0"/>
              </a:rPr>
              <a:t>Classes such as </a:t>
            </a:r>
            <a:r>
              <a:rPr lang="en-US" sz="1900" b="1" dirty="0">
                <a:latin typeface="Abadi" panose="020B0604020104020204" pitchFamily="34" charset="0"/>
              </a:rPr>
              <a:t>car (902)</a:t>
            </a:r>
            <a:r>
              <a:rPr lang="en-US" sz="1900" dirty="0">
                <a:latin typeface="Abadi" panose="020B0604020104020204" pitchFamily="34" charset="0"/>
              </a:rPr>
              <a:t>, </a:t>
            </a:r>
            <a:r>
              <a:rPr lang="en-US" sz="1900" b="1" dirty="0">
                <a:latin typeface="Abadi" panose="020B0604020104020204" pitchFamily="34" charset="0"/>
              </a:rPr>
              <a:t>ship (876)</a:t>
            </a:r>
            <a:r>
              <a:rPr lang="en-US" sz="1900" dirty="0">
                <a:latin typeface="Abadi" panose="020B0604020104020204" pitchFamily="34" charset="0"/>
              </a:rPr>
              <a:t>, </a:t>
            </a:r>
            <a:r>
              <a:rPr lang="en-US" sz="1900" b="1" dirty="0">
                <a:latin typeface="Abadi" panose="020B0604020104020204" pitchFamily="34" charset="0"/>
              </a:rPr>
              <a:t>frog (853)</a:t>
            </a:r>
            <a:r>
              <a:rPr lang="en-US" sz="1900" dirty="0">
                <a:latin typeface="Abadi" panose="020B0604020104020204" pitchFamily="34" charset="0"/>
              </a:rPr>
              <a:t>, and </a:t>
            </a:r>
            <a:r>
              <a:rPr lang="en-US" sz="1900" b="1" dirty="0">
                <a:latin typeface="Abadi" panose="020B0604020104020204" pitchFamily="34" charset="0"/>
              </a:rPr>
              <a:t>truck (850)</a:t>
            </a:r>
            <a:r>
              <a:rPr lang="en-US" sz="1900" dirty="0">
                <a:latin typeface="Abadi" panose="020B0604020104020204" pitchFamily="34" charset="0"/>
              </a:rPr>
              <a:t> achieved the highest number of correct predictions. </a:t>
            </a:r>
          </a:p>
          <a:p>
            <a:pPr indent="-228600">
              <a:lnSpc>
                <a:spcPct val="100000"/>
              </a:lnSpc>
              <a:buFont typeface="Arial" panose="020B0604020202020204" pitchFamily="34" charset="0"/>
              <a:buChar char="•"/>
            </a:pPr>
            <a:r>
              <a:rPr lang="en-US" sz="1900" dirty="0">
                <a:latin typeface="Abadi" panose="020B0604020104020204" pitchFamily="34" charset="0"/>
              </a:rPr>
              <a:t>Classes such as </a:t>
            </a:r>
            <a:r>
              <a:rPr lang="en-US" sz="1900" b="1" dirty="0">
                <a:latin typeface="Abadi" panose="020B0604020104020204" pitchFamily="34" charset="0"/>
              </a:rPr>
              <a:t>cat (506)</a:t>
            </a:r>
            <a:r>
              <a:rPr lang="en-US" sz="1900" dirty="0">
                <a:latin typeface="Abadi" panose="020B0604020104020204" pitchFamily="34" charset="0"/>
              </a:rPr>
              <a:t> and </a:t>
            </a:r>
            <a:r>
              <a:rPr lang="en-US" sz="1900" b="1" dirty="0">
                <a:latin typeface="Abadi" panose="020B0604020104020204" pitchFamily="34" charset="0"/>
              </a:rPr>
              <a:t>bird (688)</a:t>
            </a:r>
            <a:r>
              <a:rPr lang="en-US" sz="1900" dirty="0">
                <a:latin typeface="Abadi" panose="020B0604020104020204" pitchFamily="34" charset="0"/>
              </a:rPr>
              <a:t> were more challenging to classify due to visual similarities with other categories. </a:t>
            </a:r>
          </a:p>
          <a:p>
            <a:pPr indent="-228600">
              <a:lnSpc>
                <a:spcPct val="100000"/>
              </a:lnSpc>
              <a:buFont typeface="Arial" panose="020B0604020202020204" pitchFamily="34" charset="0"/>
              <a:buChar char="•"/>
            </a:pPr>
            <a:r>
              <a:rPr lang="en-US" sz="1900" dirty="0">
                <a:latin typeface="Abadi" panose="020B0604020104020204" pitchFamily="34" charset="0"/>
              </a:rPr>
              <a:t>Common misclassifications occurred between </a:t>
            </a:r>
            <a:r>
              <a:rPr lang="en-US" sz="1900" b="1" dirty="0">
                <a:latin typeface="Abadi" panose="020B0604020104020204" pitchFamily="34" charset="0"/>
              </a:rPr>
              <a:t>cat and dog</a:t>
            </a:r>
            <a:r>
              <a:rPr lang="en-US" sz="1900" dirty="0">
                <a:latin typeface="Abadi" panose="020B0604020104020204" pitchFamily="34" charset="0"/>
              </a:rPr>
              <a:t>, and </a:t>
            </a:r>
            <a:r>
              <a:rPr lang="en-US" sz="1900" b="1" dirty="0">
                <a:latin typeface="Abadi" panose="020B0604020104020204" pitchFamily="34" charset="0"/>
              </a:rPr>
              <a:t>deer and horse</a:t>
            </a:r>
            <a:r>
              <a:rPr lang="en-US" sz="1900" dirty="0">
                <a:latin typeface="Abadi" panose="020B0604020104020204" pitchFamily="34" charset="0"/>
              </a:rPr>
              <a:t>, indicating overlapping visual features. </a:t>
            </a:r>
          </a:p>
          <a:p>
            <a:pPr>
              <a:lnSpc>
                <a:spcPct val="100000"/>
              </a:lnSpc>
            </a:pPr>
            <a:r>
              <a:rPr lang="en-US" sz="1900" b="1" dirty="0">
                <a:latin typeface="Abadi" panose="020B0604020104020204" pitchFamily="34" charset="0"/>
              </a:rPr>
              <a:t>Key Finding</a:t>
            </a:r>
          </a:p>
          <a:p>
            <a:pPr indent="-228600">
              <a:lnSpc>
                <a:spcPct val="100000"/>
              </a:lnSpc>
              <a:buFont typeface="Arial" panose="020B0604020202020204" pitchFamily="34" charset="0"/>
              <a:buChar char="•"/>
            </a:pPr>
            <a:r>
              <a:rPr lang="en-US" sz="1900" dirty="0">
                <a:latin typeface="Abadi" panose="020B0604020104020204" pitchFamily="34" charset="0"/>
              </a:rPr>
              <a:t>The Deep CNN achieved strong overall classification performance, but visually similar classes remained the primary source of prediction errors.</a:t>
            </a:r>
          </a:p>
          <a:p>
            <a:pPr indent="-228600">
              <a:lnSpc>
                <a:spcPct val="100000"/>
              </a:lnSpc>
              <a:buFont typeface="Arial" panose="020B0604020202020204" pitchFamily="34" charset="0"/>
              <a:buChar char="•"/>
            </a:pPr>
            <a:endParaRPr lang="en-US" sz="1400" dirty="0"/>
          </a:p>
        </p:txBody>
      </p:sp>
      <p:pic>
        <p:nvPicPr>
          <p:cNvPr id="6" name="Picture 5">
            <a:extLst>
              <a:ext uri="{FF2B5EF4-FFF2-40B4-BE49-F238E27FC236}">
                <a16:creationId xmlns:a16="http://schemas.microsoft.com/office/drawing/2014/main" id="{44A034F1-B3CC-534B-C15F-4C5356BD782E}"/>
              </a:ext>
            </a:extLst>
          </p:cNvPr>
          <p:cNvPicPr>
            <a:picLocks noChangeAspect="1"/>
          </p:cNvPicPr>
          <p:nvPr/>
        </p:nvPicPr>
        <p:blipFill>
          <a:blip r:embed="rId3"/>
          <a:stretch>
            <a:fillRect/>
          </a:stretch>
        </p:blipFill>
        <p:spPr>
          <a:xfrm>
            <a:off x="7396778" y="1555250"/>
            <a:ext cx="4540226" cy="4081051"/>
          </a:xfrm>
          <a:prstGeom prst="rect">
            <a:avLst/>
          </a:prstGeom>
        </p:spPr>
      </p:pic>
    </p:spTree>
    <p:extLst>
      <p:ext uri="{BB962C8B-B14F-4D97-AF65-F5344CB8AC3E}">
        <p14:creationId xmlns:p14="http://schemas.microsoft.com/office/powerpoint/2010/main" val="299960571"/>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6">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9F3309-D624-134B-813C-CA5D599BC116}"/>
              </a:ext>
            </a:extLst>
          </p:cNvPr>
          <p:cNvSpPr>
            <a:spLocks noGrp="1"/>
          </p:cNvSpPr>
          <p:nvPr>
            <p:ph type="title"/>
          </p:nvPr>
        </p:nvSpPr>
        <p:spPr>
          <a:xfrm>
            <a:off x="838200" y="253397"/>
            <a:ext cx="10515600" cy="1273233"/>
          </a:xfrm>
        </p:spPr>
        <p:txBody>
          <a:bodyPr>
            <a:normAutofit fontScale="90000"/>
          </a:bodyPr>
          <a:lstStyle/>
          <a:p>
            <a:br>
              <a:rPr lang="en-GB" b="1" dirty="0">
                <a:latin typeface="Abadi" panose="020B0604020104020204" pitchFamily="34" charset="0"/>
              </a:rPr>
            </a:br>
            <a:r>
              <a:rPr lang="en-GB" b="1" dirty="0">
                <a:latin typeface="Abadi" panose="020B0604020104020204" pitchFamily="34" charset="0"/>
              </a:rPr>
              <a:t>Result Summary</a:t>
            </a:r>
            <a:br>
              <a:rPr lang="en-GB" b="1" dirty="0"/>
            </a:br>
            <a:endParaRPr lang="en-GB" dirty="0"/>
          </a:p>
        </p:txBody>
      </p:sp>
      <p:sp>
        <p:nvSpPr>
          <p:cNvPr id="19" name="Rectangle 18">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88FE49C-B751-BD5A-8FBD-2ED935A7A2D6}"/>
              </a:ext>
            </a:extLst>
          </p:cNvPr>
          <p:cNvSpPr>
            <a:spLocks noGrp="1"/>
          </p:cNvSpPr>
          <p:nvPr>
            <p:ph idx="1"/>
          </p:nvPr>
        </p:nvSpPr>
        <p:spPr>
          <a:xfrm>
            <a:off x="838200" y="2152998"/>
            <a:ext cx="10515600" cy="4019202"/>
          </a:xfrm>
        </p:spPr>
        <p:txBody>
          <a:bodyPr>
            <a:normAutofit/>
          </a:bodyPr>
          <a:lstStyle/>
          <a:p>
            <a:pPr>
              <a:lnSpc>
                <a:spcPct val="100000"/>
              </a:lnSpc>
            </a:pPr>
            <a:r>
              <a:rPr lang="en-GB" sz="1800" dirty="0">
                <a:latin typeface="Abadi" panose="020B0604020104020204" pitchFamily="34" charset="0"/>
              </a:rPr>
              <a:t>The </a:t>
            </a:r>
            <a:r>
              <a:rPr lang="en-GB" sz="1800" b="1" dirty="0">
                <a:latin typeface="Abadi" panose="020B0604020104020204" pitchFamily="34" charset="0"/>
              </a:rPr>
              <a:t>Deep CNN achieved the highest test accuracy (77.57%)</a:t>
            </a:r>
            <a:r>
              <a:rPr lang="en-GB" sz="1800" dirty="0">
                <a:latin typeface="Abadi" panose="020B0604020104020204" pitchFamily="34" charset="0"/>
              </a:rPr>
              <a:t>, followed by the </a:t>
            </a:r>
            <a:r>
              <a:rPr lang="en-GB" sz="1800" b="1" dirty="0">
                <a:latin typeface="Abadi" panose="020B0604020104020204" pitchFamily="34" charset="0"/>
              </a:rPr>
              <a:t>Medium CNN (75.14%)</a:t>
            </a:r>
            <a:r>
              <a:rPr lang="en-GB" sz="1800" dirty="0">
                <a:latin typeface="Abadi" panose="020B0604020104020204" pitchFamily="34" charset="0"/>
              </a:rPr>
              <a:t> and </a:t>
            </a:r>
            <a:r>
              <a:rPr lang="en-GB" sz="1800" b="1" dirty="0">
                <a:latin typeface="Abadi" panose="020B0604020104020204" pitchFamily="34" charset="0"/>
              </a:rPr>
              <a:t>Shallow CNN (72.67%)</a:t>
            </a:r>
            <a:r>
              <a:rPr lang="en-GB" sz="1800" dirty="0">
                <a:latin typeface="Abadi" panose="020B0604020104020204" pitchFamily="34" charset="0"/>
              </a:rPr>
              <a:t>. </a:t>
            </a:r>
          </a:p>
          <a:p>
            <a:pPr>
              <a:lnSpc>
                <a:spcPct val="100000"/>
              </a:lnSpc>
            </a:pPr>
            <a:r>
              <a:rPr lang="en-GB" sz="1800" dirty="0">
                <a:latin typeface="Abadi" panose="020B0604020104020204" pitchFamily="34" charset="0"/>
              </a:rPr>
              <a:t>Although the </a:t>
            </a:r>
            <a:r>
              <a:rPr lang="en-GB" sz="1800" b="1" dirty="0">
                <a:latin typeface="Abadi" panose="020B0604020104020204" pitchFamily="34" charset="0"/>
              </a:rPr>
              <a:t>Medium CNN achieved the highest training accuracy</a:t>
            </a:r>
            <a:r>
              <a:rPr lang="en-GB" sz="1800" dirty="0">
                <a:latin typeface="Abadi" panose="020B0604020104020204" pitchFamily="34" charset="0"/>
              </a:rPr>
              <a:t>, the </a:t>
            </a:r>
            <a:r>
              <a:rPr lang="en-GB" sz="1800" b="1" dirty="0">
                <a:latin typeface="Abadi" panose="020B0604020104020204" pitchFamily="34" charset="0"/>
              </a:rPr>
              <a:t>Deep CNN generalized better to unseen data</a:t>
            </a:r>
            <a:r>
              <a:rPr lang="en-GB" sz="1800" dirty="0">
                <a:latin typeface="Abadi" panose="020B0604020104020204" pitchFamily="34" charset="0"/>
              </a:rPr>
              <a:t> due to its deeper architecture and dropout regularization. </a:t>
            </a:r>
          </a:p>
          <a:p>
            <a:pPr>
              <a:lnSpc>
                <a:spcPct val="100000"/>
              </a:lnSpc>
            </a:pPr>
            <a:r>
              <a:rPr lang="en-GB" sz="1800" dirty="0">
                <a:latin typeface="Abadi" panose="020B0604020104020204" pitchFamily="34" charset="0"/>
              </a:rPr>
              <a:t>This demonstrates that </a:t>
            </a:r>
            <a:r>
              <a:rPr lang="en-GB" sz="1800" b="1" dirty="0">
                <a:latin typeface="Abadi" panose="020B0604020104020204" pitchFamily="34" charset="0"/>
              </a:rPr>
              <a:t>higher training accuracy does not always result in better real-world performance</a:t>
            </a:r>
            <a:r>
              <a:rPr lang="en-GB" sz="1800" dirty="0">
                <a:latin typeface="Abadi" panose="020B0604020104020204" pitchFamily="34" charset="0"/>
              </a:rPr>
              <a:t>. </a:t>
            </a:r>
          </a:p>
          <a:p>
            <a:pPr marL="0" indent="0">
              <a:lnSpc>
                <a:spcPct val="100000"/>
              </a:lnSpc>
              <a:buNone/>
            </a:pPr>
            <a:r>
              <a:rPr lang="en-GB" sz="1800" b="1" dirty="0">
                <a:latin typeface="Abadi" panose="020B0604020104020204" pitchFamily="34" charset="0"/>
              </a:rPr>
              <a:t>Key Finding</a:t>
            </a:r>
          </a:p>
          <a:p>
            <a:pPr>
              <a:lnSpc>
                <a:spcPct val="100000"/>
              </a:lnSpc>
            </a:pPr>
            <a:r>
              <a:rPr lang="en-GB" sz="1800" dirty="0">
                <a:latin typeface="Abadi" panose="020B0604020104020204" pitchFamily="34" charset="0"/>
              </a:rPr>
              <a:t>The Deep CNN delivered the best overall performance, achieving the highest test accuracy and strongest generalization capability.</a:t>
            </a:r>
            <a:r>
              <a:rPr lang="en-GB" sz="1800" dirty="0"/>
              <a:t> </a:t>
            </a:r>
            <a:r>
              <a:rPr lang="en-GB" sz="1800" dirty="0">
                <a:latin typeface="Abadi" panose="020B0604020104020204" pitchFamily="34" charset="0"/>
              </a:rPr>
              <a:t>Although the Deep CNN achieved the highest test accuracy, training was limited to 10 epochs and no data augmentation was applied. Future work could investigate deeper architectures, data augmentation, and transfer learning.</a:t>
            </a:r>
          </a:p>
          <a:p>
            <a:pPr>
              <a:lnSpc>
                <a:spcPct val="100000"/>
              </a:lnSpc>
            </a:pPr>
            <a:endParaRPr lang="en-GB" sz="2000" dirty="0"/>
          </a:p>
        </p:txBody>
      </p:sp>
    </p:spTree>
    <p:extLst>
      <p:ext uri="{BB962C8B-B14F-4D97-AF65-F5344CB8AC3E}">
        <p14:creationId xmlns:p14="http://schemas.microsoft.com/office/powerpoint/2010/main" val="1082324163"/>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p!!Rectangle">
            <a:extLst>
              <a:ext uri="{FF2B5EF4-FFF2-40B4-BE49-F238E27FC236}">
                <a16:creationId xmlns:a16="http://schemas.microsoft.com/office/drawing/2014/main" id="{D0D0518B-D51A-4AC9-8054-5C1EF2EB9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A9FE7E13-6482-B8F9-A52F-4CE4910E59C2}"/>
              </a:ext>
            </a:extLst>
          </p:cNvPr>
          <p:cNvPicPr>
            <a:picLocks noChangeAspect="1"/>
          </p:cNvPicPr>
          <p:nvPr/>
        </p:nvPicPr>
        <p:blipFill>
          <a:blip r:embed="rId3"/>
          <a:srcRect t="21637" b="22113"/>
          <a:stretch>
            <a:fillRect/>
          </a:stretch>
        </p:blipFill>
        <p:spPr>
          <a:xfrm>
            <a:off x="20" y="10"/>
            <a:ext cx="12191980" cy="6857990"/>
          </a:xfrm>
          <a:prstGeom prst="rect">
            <a:avLst/>
          </a:prstGeom>
        </p:spPr>
      </p:pic>
      <p:sp useBgFill="1">
        <p:nvSpPr>
          <p:cNvPr id="102" name="m!!text rectangle">
            <a:extLst>
              <a:ext uri="{FF2B5EF4-FFF2-40B4-BE49-F238E27FC236}">
                <a16:creationId xmlns:a16="http://schemas.microsoft.com/office/drawing/2014/main" id="{494CEDA0-FD8E-491B-8792-69F93BDA3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0275" y="633619"/>
            <a:ext cx="4279383" cy="5495925"/>
          </a:xfrm>
          <a:prstGeom prst="rect">
            <a:avLst/>
          </a:prstGeom>
          <a:ln w="9525">
            <a:solidFill>
              <a:schemeClr val="tx2">
                <a:lumMod val="10000"/>
                <a:lumOff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440A75-E1A8-F974-4D49-A117DA118BC6}"/>
              </a:ext>
            </a:extLst>
          </p:cNvPr>
          <p:cNvSpPr>
            <a:spLocks noGrp="1"/>
          </p:cNvSpPr>
          <p:nvPr>
            <p:ph type="title"/>
          </p:nvPr>
        </p:nvSpPr>
        <p:spPr>
          <a:xfrm>
            <a:off x="843645" y="980368"/>
            <a:ext cx="3666744" cy="1106424"/>
          </a:xfrm>
        </p:spPr>
        <p:txBody>
          <a:bodyPr>
            <a:normAutofit/>
          </a:bodyPr>
          <a:lstStyle/>
          <a:p>
            <a:r>
              <a:rPr lang="en-GB" sz="2600" b="1" dirty="0">
                <a:latin typeface="Abadi" panose="020B0604020104020204" pitchFamily="34" charset="0"/>
              </a:rPr>
              <a:t>REFERENCES</a:t>
            </a:r>
          </a:p>
        </p:txBody>
      </p:sp>
      <p:sp>
        <p:nvSpPr>
          <p:cNvPr id="104" name="m!!accent">
            <a:extLst>
              <a:ext uri="{FF2B5EF4-FFF2-40B4-BE49-F238E27FC236}">
                <a16:creationId xmlns:a16="http://schemas.microsoft.com/office/drawing/2014/main" id="{0FD3EBBB-DFE8-4525-B1BF-BE7BBC8DF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267" y="115681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Rectangle 105">
            <a:extLst>
              <a:ext uri="{FF2B5EF4-FFF2-40B4-BE49-F238E27FC236}">
                <a16:creationId xmlns:a16="http://schemas.microsoft.com/office/drawing/2014/main" id="{A9362A14-6FB8-4FFC-AAA0-2E5AFF8A8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824" y="2113280"/>
            <a:ext cx="352044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5">
            <a:extLst>
              <a:ext uri="{FF2B5EF4-FFF2-40B4-BE49-F238E27FC236}">
                <a16:creationId xmlns:a16="http://schemas.microsoft.com/office/drawing/2014/main" id="{5B93A66A-776B-0E68-4EFC-BCE5181F62DA}"/>
              </a:ext>
            </a:extLst>
          </p:cNvPr>
          <p:cNvSpPr>
            <a:spLocks noGrp="1" noChangeArrowheads="1"/>
          </p:cNvSpPr>
          <p:nvPr>
            <p:ph idx="1"/>
          </p:nvPr>
        </p:nvSpPr>
        <p:spPr bwMode="auto">
          <a:xfrm>
            <a:off x="510274" y="2194633"/>
            <a:ext cx="4279383" cy="39613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R="0" lvl="0" defTabSz="914400" rtl="0" eaLnBrk="0" fontAlgn="base" latinLnBrk="0" hangingPunct="0">
              <a:lnSpc>
                <a:spcPct val="100000"/>
              </a:lnSpc>
              <a:spcBef>
                <a:spcPct val="0"/>
              </a:spcBef>
              <a:spcAft>
                <a:spcPts val="600"/>
              </a:spcAft>
              <a:buClrTx/>
              <a:buSzTx/>
              <a:tabLst/>
            </a:pPr>
            <a:r>
              <a:rPr kumimoji="0" lang="en-US" altLang="en-US" sz="1600" b="0" i="0" u="none" strike="noStrike" cap="none" normalizeH="0" baseline="0" dirty="0">
                <a:ln>
                  <a:noFill/>
                </a:ln>
                <a:effectLst/>
                <a:latin typeface="Arial" panose="020B0604020202020204" pitchFamily="34" charset="0"/>
              </a:rPr>
              <a:t> </a:t>
            </a:r>
            <a:r>
              <a:rPr kumimoji="0" lang="en-US" altLang="en-US" sz="1600" b="0" i="0" u="none" strike="noStrike" cap="none" normalizeH="0" baseline="0" dirty="0">
                <a:ln>
                  <a:noFill/>
                </a:ln>
                <a:effectLst/>
                <a:latin typeface="Abadi" panose="020B0604020104020204" pitchFamily="34" charset="0"/>
              </a:rPr>
              <a:t>LeCun, Y. et al. (1998) – </a:t>
            </a:r>
            <a:r>
              <a:rPr kumimoji="0" lang="en-US" altLang="en-US" sz="1600" b="0" i="1" u="none" strike="noStrike" cap="none" normalizeH="0" baseline="0" dirty="0">
                <a:ln>
                  <a:noFill/>
                </a:ln>
                <a:effectLst/>
                <a:latin typeface="Abadi" panose="020B0604020104020204" pitchFamily="34" charset="0"/>
              </a:rPr>
              <a:t>Gradient-Based Learning Applied to Document Recognition</a:t>
            </a:r>
            <a:br>
              <a:rPr kumimoji="0" lang="en-US" altLang="en-US" sz="1600" b="0" i="0" u="none" strike="noStrike" cap="none" normalizeH="0" baseline="0" dirty="0">
                <a:ln>
                  <a:noFill/>
                </a:ln>
                <a:effectLst/>
                <a:latin typeface="Abadi" panose="020B0604020104020204" pitchFamily="34" charset="0"/>
              </a:rPr>
            </a:br>
            <a:r>
              <a:rPr kumimoji="0" lang="en-US" altLang="en-US" sz="1600" b="0" i="0" u="none" strike="noStrike" cap="none" normalizeH="0" baseline="0" dirty="0">
                <a:ln>
                  <a:noFill/>
                </a:ln>
                <a:effectLst/>
                <a:latin typeface="Abadi" panose="020B0604020104020204" pitchFamily="34" charset="0"/>
                <a:hlinkClick r:id="rId4"/>
              </a:rPr>
              <a:t>https://ieeexplore.ieee.org/document/726791</a:t>
            </a:r>
            <a:r>
              <a:rPr kumimoji="0" lang="en-US" altLang="en-US" sz="1600" b="0" i="0" u="none" strike="noStrike" cap="none" normalizeH="0" baseline="0" dirty="0">
                <a:ln>
                  <a:noFill/>
                </a:ln>
                <a:effectLst/>
                <a:latin typeface="Abadi" panose="020B0604020104020204" pitchFamily="34" charset="0"/>
              </a:rPr>
              <a:t> </a:t>
            </a:r>
          </a:p>
          <a:p>
            <a:pPr eaLnBrk="0" fontAlgn="base" hangingPunct="0">
              <a:lnSpc>
                <a:spcPct val="100000"/>
              </a:lnSpc>
              <a:spcBef>
                <a:spcPct val="0"/>
              </a:spcBef>
              <a:spcAft>
                <a:spcPts val="600"/>
              </a:spcAft>
            </a:pPr>
            <a:r>
              <a:rPr kumimoji="0" lang="en-US" altLang="en-US" sz="1600" b="0" i="0" u="none" strike="noStrike" cap="none" normalizeH="0" baseline="0" dirty="0">
                <a:ln>
                  <a:noFill/>
                </a:ln>
                <a:effectLst/>
                <a:latin typeface="Abadi" panose="020B0604020104020204" pitchFamily="34" charset="0"/>
              </a:rPr>
              <a:t> </a:t>
            </a:r>
            <a:r>
              <a:rPr kumimoji="0" lang="en-US" altLang="en-US" sz="1600" b="0" i="0" u="none" strike="noStrike" cap="none" normalizeH="0" baseline="0" dirty="0" err="1">
                <a:ln>
                  <a:noFill/>
                </a:ln>
                <a:effectLst/>
                <a:latin typeface="Abadi" panose="020B0604020104020204" pitchFamily="34" charset="0"/>
              </a:rPr>
              <a:t>Krizhevsky</a:t>
            </a:r>
            <a:r>
              <a:rPr kumimoji="0" lang="en-US" altLang="en-US" sz="1600" b="0" i="0" u="none" strike="noStrike" cap="none" normalizeH="0" baseline="0" dirty="0">
                <a:ln>
                  <a:noFill/>
                </a:ln>
                <a:effectLst/>
                <a:latin typeface="Abadi" panose="020B0604020104020204" pitchFamily="34" charset="0"/>
              </a:rPr>
              <a:t>, A. et al. (2012) – </a:t>
            </a:r>
            <a:r>
              <a:rPr kumimoji="0" lang="en-US" altLang="en-US" sz="1600" b="0" i="1" u="none" strike="noStrike" cap="none" normalizeH="0" baseline="0" dirty="0">
                <a:ln>
                  <a:noFill/>
                </a:ln>
                <a:effectLst/>
                <a:latin typeface="Abadi" panose="020B0604020104020204" pitchFamily="34" charset="0"/>
              </a:rPr>
              <a:t>ImageNet Classification with Deep Convolutional Neural Networks</a:t>
            </a:r>
            <a:br>
              <a:rPr kumimoji="0" lang="en-US" altLang="en-US" sz="1600" b="0" i="0" u="none" strike="noStrike" cap="none" normalizeH="0" baseline="0" dirty="0">
                <a:ln>
                  <a:noFill/>
                </a:ln>
                <a:effectLst/>
                <a:latin typeface="Abadi" panose="020B0604020104020204" pitchFamily="34" charset="0"/>
              </a:rPr>
            </a:br>
            <a:r>
              <a:rPr kumimoji="0" lang="en-US" altLang="en-US" sz="1600" b="0" i="0" u="none" strike="noStrike" cap="none" normalizeH="0" baseline="0" dirty="0">
                <a:ln>
                  <a:noFill/>
                </a:ln>
                <a:effectLst/>
                <a:latin typeface="Abadi" panose="020B0604020104020204" pitchFamily="34" charset="0"/>
                <a:hlinkClick r:id="rId5"/>
              </a:rPr>
              <a:t>https://papers.nips.cc/paper/4824-imagenet-classification-with-deep-convolutional-neural-networks.pdf</a:t>
            </a:r>
            <a:r>
              <a:rPr kumimoji="0" lang="en-US" altLang="en-US" sz="1600" b="0" i="0" u="none" strike="noStrike" cap="none" normalizeH="0" baseline="0" dirty="0">
                <a:ln>
                  <a:noFill/>
                </a:ln>
                <a:effectLst/>
                <a:latin typeface="Abadi" panose="020B0604020104020204" pitchFamily="34" charset="0"/>
              </a:rPr>
              <a:t> </a:t>
            </a:r>
          </a:p>
          <a:p>
            <a:pPr eaLnBrk="0" fontAlgn="base" hangingPunct="0">
              <a:lnSpc>
                <a:spcPct val="100000"/>
              </a:lnSpc>
              <a:spcBef>
                <a:spcPct val="0"/>
              </a:spcBef>
              <a:spcAft>
                <a:spcPts val="600"/>
              </a:spcAft>
            </a:pPr>
            <a:r>
              <a:rPr kumimoji="0" lang="en-US" altLang="en-US" sz="1600" b="0" i="0" u="none" strike="noStrike" cap="none" normalizeH="0" baseline="0" dirty="0">
                <a:ln>
                  <a:noFill/>
                </a:ln>
                <a:effectLst/>
                <a:latin typeface="Abadi" panose="020B0604020104020204" pitchFamily="34" charset="0"/>
              </a:rPr>
              <a:t> CIFAR-10 Dataset</a:t>
            </a:r>
            <a:br>
              <a:rPr kumimoji="0" lang="en-US" altLang="en-US" sz="1600" b="0" i="0" u="none" strike="noStrike" cap="none" normalizeH="0" baseline="0" dirty="0">
                <a:ln>
                  <a:noFill/>
                </a:ln>
                <a:effectLst/>
                <a:latin typeface="Abadi" panose="020B0604020104020204" pitchFamily="34" charset="0"/>
              </a:rPr>
            </a:br>
            <a:r>
              <a:rPr kumimoji="0" lang="en-US" altLang="en-US" sz="1600" b="0" i="0" u="none" strike="noStrike" cap="none" normalizeH="0" baseline="0" dirty="0">
                <a:ln>
                  <a:noFill/>
                </a:ln>
                <a:effectLst/>
                <a:latin typeface="Abadi" panose="020B0604020104020204" pitchFamily="34" charset="0"/>
                <a:hlinkClick r:id="rId6"/>
              </a:rPr>
              <a:t>https://www.cs.toronto.edu/~kriz/cifar.html</a:t>
            </a:r>
            <a:r>
              <a:rPr kumimoji="0" lang="en-US" altLang="en-US" sz="1600" b="0" i="0" u="none" strike="noStrike" cap="none" normalizeH="0" baseline="0" dirty="0">
                <a:ln>
                  <a:noFill/>
                </a:ln>
                <a:effectLst/>
                <a:latin typeface="Abadi" panose="020B0604020104020204" pitchFamily="34" charset="0"/>
              </a:rPr>
              <a:t> </a:t>
            </a:r>
          </a:p>
          <a:p>
            <a:pPr eaLnBrk="0" fontAlgn="base" hangingPunct="0">
              <a:lnSpc>
                <a:spcPct val="100000"/>
              </a:lnSpc>
              <a:spcBef>
                <a:spcPct val="0"/>
              </a:spcBef>
              <a:spcAft>
                <a:spcPts val="600"/>
              </a:spcAft>
            </a:pPr>
            <a:r>
              <a:rPr kumimoji="0" lang="en-US" altLang="en-US" sz="1600" b="0" i="0" u="none" strike="noStrike" cap="none" normalizeH="0" baseline="0" dirty="0">
                <a:ln>
                  <a:noFill/>
                </a:ln>
                <a:effectLst/>
                <a:latin typeface="Abadi" panose="020B0604020104020204" pitchFamily="34" charset="0"/>
              </a:rPr>
              <a:t> </a:t>
            </a:r>
            <a:r>
              <a:rPr kumimoji="0" lang="en-US" altLang="en-US" sz="1600" b="0" i="0" u="none" strike="noStrike" cap="none" normalizeH="0" baseline="0" dirty="0" err="1">
                <a:ln>
                  <a:noFill/>
                </a:ln>
                <a:effectLst/>
                <a:latin typeface="Abadi" panose="020B0604020104020204" pitchFamily="34" charset="0"/>
              </a:rPr>
              <a:t>PyTorch</a:t>
            </a:r>
            <a:r>
              <a:rPr kumimoji="0" lang="en-US" altLang="en-US" sz="1600" b="0" i="0" u="none" strike="noStrike" cap="none" normalizeH="0" baseline="0" dirty="0">
                <a:ln>
                  <a:noFill/>
                </a:ln>
                <a:effectLst/>
                <a:latin typeface="Abadi" panose="020B0604020104020204" pitchFamily="34" charset="0"/>
              </a:rPr>
              <a:t> Documentation</a:t>
            </a:r>
            <a:br>
              <a:rPr kumimoji="0" lang="en-US" altLang="en-US" sz="1600" b="0" i="0" u="none" strike="noStrike" cap="none" normalizeH="0" baseline="0" dirty="0">
                <a:ln>
                  <a:noFill/>
                </a:ln>
                <a:effectLst/>
                <a:latin typeface="Abadi" panose="020B0604020104020204" pitchFamily="34" charset="0"/>
              </a:rPr>
            </a:br>
            <a:r>
              <a:rPr kumimoji="0" lang="en-US" altLang="en-US" sz="1600" b="0" i="0" u="none" strike="noStrike" cap="none" normalizeH="0" baseline="0" dirty="0">
                <a:ln>
                  <a:noFill/>
                </a:ln>
                <a:effectLst/>
                <a:latin typeface="Abadi" panose="020B0604020104020204" pitchFamily="34" charset="0"/>
                <a:hlinkClick r:id="rId7"/>
              </a:rPr>
              <a:t>https://pytorch.org/docs/stable/index.html</a:t>
            </a:r>
            <a:r>
              <a:rPr kumimoji="0" lang="en-US" altLang="en-US" sz="1600" b="0" i="0" u="none" strike="noStrike" cap="none" normalizeH="0" baseline="0" dirty="0">
                <a:ln>
                  <a:noFill/>
                </a:ln>
                <a:effectLst/>
                <a:latin typeface="Abadi" panose="020B0604020104020204" pitchFamily="34" charset="0"/>
              </a:rPr>
              <a:t> </a:t>
            </a:r>
          </a:p>
        </p:txBody>
      </p:sp>
    </p:spTree>
    <p:extLst>
      <p:ext uri="{BB962C8B-B14F-4D97-AF65-F5344CB8AC3E}">
        <p14:creationId xmlns:p14="http://schemas.microsoft.com/office/powerpoint/2010/main" val="763778844"/>
      </p:ext>
    </p:extLst>
  </p:cSld>
  <p:clrMapOvr>
    <a:masterClrMapping/>
  </p:clrMapOvr>
  <mc:AlternateContent xmlns:mc="http://schemas.openxmlformats.org/markup-compatibility/2006">
    <mc:Choice xmlns:p14="http://schemas.microsoft.com/office/powerpoint/2010/main" Requires="p14">
      <p:transition p14:dur="250">
        <p14:flash/>
      </p:transition>
    </mc:Choice>
    <mc:Fallback>
      <p:transition>
        <p:fade/>
      </p:transition>
    </mc:Fallback>
  </mc:AlternateContent>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8789</TotalTime>
  <Words>2989</Words>
  <Application>Microsoft Office PowerPoint</Application>
  <PresentationFormat>Widescreen</PresentationFormat>
  <Paragraphs>197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Abadi</vt:lpstr>
      <vt:lpstr>Arial</vt:lpstr>
      <vt:lpstr>Avenir Next LT Pro</vt:lpstr>
      <vt:lpstr>Calibri</vt:lpstr>
      <vt:lpstr>AccentBoxVTI</vt:lpstr>
      <vt:lpstr>CNN Performance Evaluation System </vt:lpstr>
      <vt:lpstr>INTRODUCTION</vt:lpstr>
      <vt:lpstr>RESEARCH MOTIVATION</vt:lpstr>
      <vt:lpstr>DATASET STRUCTURE</vt:lpstr>
      <vt:lpstr>IMPLEMENTATION STEPS</vt:lpstr>
      <vt:lpstr>DATA PROCESSING AND DATASET LOADING</vt:lpstr>
      <vt:lpstr>CNN MODEL CREATION</vt:lpstr>
      <vt:lpstr>MODEL TRAINING</vt:lpstr>
      <vt:lpstr>Training Accuracy Comparison</vt:lpstr>
      <vt:lpstr>Training Loss Comparison</vt:lpstr>
      <vt:lpstr>Performance Evaluation</vt:lpstr>
      <vt:lpstr>Confusion Matrix Analysis</vt:lpstr>
      <vt:lpstr> Result Summary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Shradha Janib</dc:creator>
  <cp:lastModifiedBy>Shradha Janib</cp:lastModifiedBy>
  <cp:revision>2</cp:revision>
  <dcterms:created xsi:type="dcterms:W3CDTF">2026-05-26T09:25:55Z</dcterms:created>
  <dcterms:modified xsi:type="dcterms:W3CDTF">2026-06-01T11:55:30Z</dcterms:modified>
</cp:coreProperties>
</file>